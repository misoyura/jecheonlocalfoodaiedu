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a470824fdb4e9f" /><Relationship Type="http://schemas.openxmlformats.org/officeDocument/2006/relationships/extended-properties" Target="/docProps/app.xml" Id="R61038fbbb50c4f6d" /><Relationship Type="http://schemas.openxmlformats.org/officeDocument/2006/relationships/officeDocument" Target="/ppt/presentation.xml" Id="R101cb071928f4550" /></Relationships>
</file>

<file path=ppt/presentation.xml><?xml version="1.0" encoding="utf-8"?>
<p:presentation xmlns:p="http://schemas.openxmlformats.org/presentationml/2006/main">
  <p:sldMasterIdLst>
    <p:sldMasterId xmlns:r="http://schemas.openxmlformats.org/officeDocument/2006/relationships" id="2147483648" r:id="Re9ec90a1894f48d4"/>
  </p:sldMasterIdLst>
  <p:notesMasterIdLst>
    <p:notesMasterId xmlns:r="http://schemas.openxmlformats.org/officeDocument/2006/relationships" r:id="Rb8ac50f9d7d34947"/>
  </p:notesMasterIdLst>
  <p:sldIdLst>
    <p:sldId xmlns:r="http://schemas.openxmlformats.org/officeDocument/2006/relationships" id="256" r:id="R27fa4caffcc84da3"/>
    <p:sldId xmlns:r="http://schemas.openxmlformats.org/officeDocument/2006/relationships" id="257" r:id="R4fea10232aa446fb"/>
    <p:sldId xmlns:r="http://schemas.openxmlformats.org/officeDocument/2006/relationships" id="258" r:id="Rd14613c8a0b043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fd20744cc349f1" /><Relationship Type="http://schemas.openxmlformats.org/officeDocument/2006/relationships/slideMaster" Target="/ppt/slideMasters/slideMaster1.xml" Id="Re9ec90a1894f48d4" /><Relationship Type="http://schemas.openxmlformats.org/officeDocument/2006/relationships/notesMaster" Target="/ppt/notesMasters/notesMaster1.xml" Id="Rb8ac50f9d7d34947" /><Relationship Type="http://schemas.openxmlformats.org/officeDocument/2006/relationships/presProps" Target="/ppt/presProps.xml" Id="Ra8fb7676a6974b56" /><Relationship Type="http://schemas.openxmlformats.org/officeDocument/2006/relationships/tableStyles" Target="/ppt/tableStyles.xml" Id="R52bcae29f62e4769" /><Relationship Type="http://schemas.openxmlformats.org/officeDocument/2006/relationships/slide" Target="/ppt/slides/slide1.xml" Id="R27fa4caffcc84da3" /><Relationship Type="http://schemas.openxmlformats.org/officeDocument/2006/relationships/slide" Target="/ppt/slides/slide2.xml" Id="R4fea10232aa446fb" /><Relationship Type="http://schemas.openxmlformats.org/officeDocument/2006/relationships/slide" Target="/ppt/slides/slide3.xml" Id="Rd14613c8a0b043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6dcb638c1049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135e360db1447b" /><Relationship Type="http://schemas.openxmlformats.org/officeDocument/2006/relationships/notesMaster" Target="/ppt/notesMasters/notesMaster1.xml" Id="R712c96a3ad3a48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06b0a612dc473d" /><Relationship Type="http://schemas.openxmlformats.org/officeDocument/2006/relationships/notesMaster" Target="/ppt/notesMasters/notesMaster1.xml" Id="R546cf495269546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b5a154dbb04a21" /><Relationship Type="http://schemas.openxmlformats.org/officeDocument/2006/relationships/notesMaster" Target="/ppt/notesMasters/notesMaster1.xml" Id="Rcdf0438d37c24d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기초자료: 국내 로컬푸드협동조합 혁신사례 심층조사 보고서, 조사 기준일 2026-10-28. 아래는 해당 보고서와 확인한 외부 원문의 요약이며, 원문 미확인 사항은 별도 표시.</a:t>
            </a:r>
          </a:p>
          <a:p xmlns:a="http://schemas.openxmlformats.org/drawingml/2006/main">
            <a:r>
              <a:t/>
            </a:r>
          </a:p>
          <a:p xmlns:a="http://schemas.openxmlformats.org/drawingml/2006/main">
            <a:r>
              <a:t>완주</a:t>
            </a:r>
          </a:p>
          <a:p xmlns:a="http://schemas.openxmlformats.org/drawingml/2006/main">
            <a:r>
              <a:t>기획생산·가공·체험 연계는 첨부 보고서의 농촌융복합산업 인증자료 인용에 근거. 인증자료의 원문 및 발표일은 확인 필요. 한국시사경제 총회 보도 발표일 2026-03-30은 원문 확인. 2025년 실적을 다룬 기사이나 금액은 이 자료에서 사용하지 않음.</a:t>
            </a:r>
          </a:p>
          <a:p xmlns:a="http://schemas.openxmlformats.org/drawingml/2006/main">
            <a:r>
              <a:t>https://xn--980b99s59h34f6tl.com/biz/company.cs?act=view&amp;idx=206&amp;pageIndex=271&amp;searchKeyword=</a:t>
            </a:r>
          </a:p>
          <a:p xmlns:a="http://schemas.openxmlformats.org/drawingml/2006/main">
            <a:r>
              <a:t>https://www.hksisaeconomy.com/news/article.html?no=1093833</a:t>
            </a:r>
          </a:p>
          <a:p xmlns:a="http://schemas.openxmlformats.org/drawingml/2006/main">
            <a:r>
              <a:t/>
            </a:r>
          </a:p>
          <a:p xmlns:a="http://schemas.openxmlformats.org/drawingml/2006/main">
            <a:r>
              <a:t>옥천살림</a:t>
            </a:r>
          </a:p>
          <a:p xmlns:a="http://schemas.openxmlformats.org/drawingml/2006/main">
            <a:r>
              <a:t>첨부 보고서의 연합뉴스 2024-06-04 및 군의회 회의록 인용에 근거. 연합뉴스 원문은 접근 불가하여 추가 확인 필요. 보고서에 따르면 옥천살림 위탁기간은 2022-03~2025-02이고 이후 운영주체 변경. 현재 옥천직매장 성과를 옥천살림 성과로 표시하지 않음.</a:t>
            </a:r>
          </a:p>
          <a:p xmlns:a="http://schemas.openxmlformats.org/drawingml/2006/main">
            <a:r>
              <a:t>https://www.yna.co.kr/view/AKR20240604061000064</a:t>
            </a:r>
          </a:p>
          <a:p xmlns:a="http://schemas.openxmlformats.org/drawingml/2006/main">
            <a:r>
              <a:t>https://council.oc.go.kr/viewer/minutes/13143.do</a:t>
            </a:r>
          </a:p>
          <a:p xmlns:a="http://schemas.openxmlformats.org/drawingml/2006/main">
            <a:r>
              <a:t/>
            </a:r>
          </a:p>
          <a:p xmlns:a="http://schemas.openxmlformats.org/drawingml/2006/main">
            <a:r>
              <a:t>언니네텃밭</a:t>
            </a:r>
          </a:p>
          <a:p xmlns:a="http://schemas.openxmlformats.org/drawingml/2006/main">
            <a:r>
              <a:t>공식 홈페이지에서 꾸러미 신청·생산자공동체·연간배송달력·온라인 장터 메뉴 확인. 발표일 확인 필요. 열람일 2026-10-28. 과거 창립공고일을 현재 서비스 발표일로 대체하지 않음. 정기구독이 생산안정에 미치는 효과는 추정.</a:t>
            </a:r>
          </a:p>
          <a:p xmlns:a="http://schemas.openxmlformats.org/drawingml/2006/main">
            <a:r>
              <a:t>https://sistersgarden.org/</a:t>
            </a:r>
          </a:p>
          <a:p xmlns:a="http://schemas.openxmlformats.org/drawingml/2006/main">
            <a:r>
              <a:t/>
            </a:r>
          </a:p>
          <a:p xmlns:a="http://schemas.openxmlformats.org/drawingml/2006/main">
            <a:r>
              <a:t>품앗이마을</a:t>
            </a:r>
          </a:p>
          <a:p xmlns:a="http://schemas.openxmlformats.org/drawingml/2006/main">
            <a:r>
              <a:t>Google Play 행복ICT 생산자 앱 소개 원문에서 생산계획·출하·판매내역·정산 기능 확인. 발표일 확인 필요. 앱 업데이트일 2025-08-17. 열람일 2026-10-28. 앱 다운로드 수를 실사용자나 경영성과로 간주하지 않음. 사회적협동조합과 현 매장 운영법인의 관계 확인 필요.</a:t>
            </a:r>
          </a:p>
          <a:p xmlns:a="http://schemas.openxmlformats.org/drawingml/2006/main">
            <a:r>
              <a:t>https://play.google.com/store/apps/details?hl=ko&amp;id=kr.co.happyict.localfood.djsaenghyeop</a:t>
            </a:r>
          </a:p>
          <a:p xmlns:a="http://schemas.openxmlformats.org/drawingml/2006/main">
            <a:r>
              <a:t/>
            </a:r>
          </a:p>
          <a:p xmlns:a="http://schemas.openxmlformats.org/drawingml/2006/main">
            <a:r>
              <a:t>양평</a:t>
            </a:r>
          </a:p>
          <a:p xmlns:a="http://schemas.openxmlformats.org/drawingml/2006/main">
            <a:r>
              <a:t>에코저널 이사장 인터뷰 2024-09-16 원문 확인. 조직 전환 및 조달범위 확대는 인터뷰 진술이며 일반 법률 해석으로 확대하지 않음. 공식 합병 공고 원문 재확인 및 법적 효력일 확인 필요. 조직 전환이 매출이나 수익성을 개선했다는 인과관계는 확인되지 않음.</a:t>
            </a:r>
          </a:p>
          <a:p xmlns:a="http://schemas.openxmlformats.org/drawingml/2006/main">
            <a:r>
              <a:t>https://www.ecojournal.co.kr/m/view.php?idx=154258</a:t>
            </a:r>
          </a:p>
          <a:p xmlns:a="http://schemas.openxmlformats.org/drawingml/2006/main">
            <a:r>
              <a:t>https://yplfood.com/bbs/board.php?bo_table=notice&amp;wr_id=13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기초자료: 국내 로컬푸드협동조합 혁신사례 심층조사 보고서, 조사 기준일 2026-10-28. 아래는 해당 보고서와 확인한 외부 원문의 요약이며, 원문 미확인 사항은 별도 표시.</a:t>
            </a:r>
          </a:p>
          <a:p xmlns:a="http://schemas.openxmlformats.org/drawingml/2006/main">
            <a:r>
              <a:t/>
            </a:r>
          </a:p>
          <a:p xmlns:a="http://schemas.openxmlformats.org/drawingml/2006/main">
            <a:r>
              <a:t>완주</a:t>
            </a:r>
          </a:p>
          <a:p xmlns:a="http://schemas.openxmlformats.org/drawingml/2006/main">
            <a:r>
              <a:t>기획생산·가공·체험 연계는 첨부 보고서의 농촌융복합산업 인증자료 인용에 근거. 인증자료의 원문 및 발표일은 확인 필요. 한국시사경제 총회 보도 발표일 2026-03-30은 원문 확인. 2025년 실적을 다룬 기사이나 금액은 이 자료에서 사용하지 않음.</a:t>
            </a:r>
          </a:p>
          <a:p xmlns:a="http://schemas.openxmlformats.org/drawingml/2006/main">
            <a:r>
              <a:t>https://xn--980b99s59h34f6tl.com/biz/company.cs?act=view&amp;idx=206&amp;pageIndex=271&amp;searchKeyword=</a:t>
            </a:r>
          </a:p>
          <a:p xmlns:a="http://schemas.openxmlformats.org/drawingml/2006/main">
            <a:r>
              <a:t>https://www.hksisaeconomy.com/news/article.html?no=1093833</a:t>
            </a:r>
          </a:p>
          <a:p xmlns:a="http://schemas.openxmlformats.org/drawingml/2006/main">
            <a:r>
              <a:t/>
            </a:r>
          </a:p>
          <a:p xmlns:a="http://schemas.openxmlformats.org/drawingml/2006/main">
            <a:r>
              <a:t>옥천살림</a:t>
            </a:r>
          </a:p>
          <a:p xmlns:a="http://schemas.openxmlformats.org/drawingml/2006/main">
            <a:r>
              <a:t>첨부 보고서의 연합뉴스 2024-06-04 및 군의회 회의록 인용에 근거. 연합뉴스 원문은 접근 불가하여 추가 확인 필요. 보고서에 따르면 옥천살림 위탁기간은 2022-03~2025-02이고 이후 운영주체 변경. 현재 옥천직매장 성과를 옥천살림 성과로 표시하지 않음.</a:t>
            </a:r>
          </a:p>
          <a:p xmlns:a="http://schemas.openxmlformats.org/drawingml/2006/main">
            <a:r>
              <a:t>https://www.yna.co.kr/view/AKR20240604061000064</a:t>
            </a:r>
          </a:p>
          <a:p xmlns:a="http://schemas.openxmlformats.org/drawingml/2006/main">
            <a:r>
              <a:t>https://council.oc.go.kr/viewer/minutes/13143.do</a:t>
            </a:r>
          </a:p>
          <a:p xmlns:a="http://schemas.openxmlformats.org/drawingml/2006/main">
            <a:r>
              <a:t/>
            </a:r>
          </a:p>
          <a:p xmlns:a="http://schemas.openxmlformats.org/drawingml/2006/main">
            <a:r>
              <a:t>언니네텃밭</a:t>
            </a:r>
          </a:p>
          <a:p xmlns:a="http://schemas.openxmlformats.org/drawingml/2006/main">
            <a:r>
              <a:t>공식 홈페이지에서 꾸러미 신청·생산자공동체·연간배송달력·온라인 장터 메뉴 확인. 발표일 확인 필요. 열람일 2026-10-28. 과거 창립공고일을 현재 서비스 발표일로 대체하지 않음. 정기구독이 생산안정에 미치는 효과는 추정.</a:t>
            </a:r>
          </a:p>
          <a:p xmlns:a="http://schemas.openxmlformats.org/drawingml/2006/main">
            <a:r>
              <a:t>https://sistersgarden.org/</a:t>
            </a:r>
          </a:p>
          <a:p xmlns:a="http://schemas.openxmlformats.org/drawingml/2006/main">
            <a:r>
              <a:t/>
            </a:r>
          </a:p>
          <a:p xmlns:a="http://schemas.openxmlformats.org/drawingml/2006/main">
            <a:r>
              <a:t>품앗이마을</a:t>
            </a:r>
          </a:p>
          <a:p xmlns:a="http://schemas.openxmlformats.org/drawingml/2006/main">
            <a:r>
              <a:t>Google Play 행복ICT 생산자 앱 소개 원문에서 생산계획·출하·판매내역·정산 기능 확인. 발표일 확인 필요. 앱 업데이트일 2025-08-17. 열람일 2026-10-28. 앱 다운로드 수를 실사용자나 경영성과로 간주하지 않음. 사회적협동조합과 현 매장 운영법인의 관계 확인 필요.</a:t>
            </a:r>
          </a:p>
          <a:p xmlns:a="http://schemas.openxmlformats.org/drawingml/2006/main">
            <a:r>
              <a:t>https://play.google.com/store/apps/details?hl=ko&amp;id=kr.co.happyict.localfood.djsaenghyeop</a:t>
            </a:r>
          </a:p>
          <a:p xmlns:a="http://schemas.openxmlformats.org/drawingml/2006/main">
            <a:r>
              <a:t/>
            </a:r>
          </a:p>
          <a:p xmlns:a="http://schemas.openxmlformats.org/drawingml/2006/main">
            <a:r>
              <a:t>양평</a:t>
            </a:r>
          </a:p>
          <a:p xmlns:a="http://schemas.openxmlformats.org/drawingml/2006/main">
            <a:r>
              <a:t>에코저널 이사장 인터뷰 2024-09-16 원문 확인. 조직 전환 및 조달범위 확대는 인터뷰 진술이며 일반 법률 해석으로 확대하지 않음. 공식 합병 공고 원문 재확인 및 법적 효력일 확인 필요. 조직 전환이 매출이나 수익성을 개선했다는 인과관계는 확인되지 않음.</a:t>
            </a:r>
          </a:p>
          <a:p xmlns:a="http://schemas.openxmlformats.org/drawingml/2006/main">
            <a:r>
              <a:t>https://www.ecojournal.co.kr/m/view.php?idx=154258</a:t>
            </a:r>
          </a:p>
          <a:p xmlns:a="http://schemas.openxmlformats.org/drawingml/2006/main">
            <a:r>
              <a:t>https://yplfood.com/bbs/board.php?bo_table=notice&amp;wr_id=13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기초자료: 국내 로컬푸드협동조합 혁신사례 심층조사 보고서, 조사 기준일 2026-10-28. 아래는 해당 보고서와 확인한 외부 원문의 요약이며, 원문 미확인 사항은 별도 표시.</a:t>
            </a:r>
          </a:p>
          <a:p xmlns:a="http://schemas.openxmlformats.org/drawingml/2006/main">
            <a:r>
              <a:t/>
            </a:r>
          </a:p>
          <a:p xmlns:a="http://schemas.openxmlformats.org/drawingml/2006/main">
            <a:r>
              <a:t>완주</a:t>
            </a:r>
          </a:p>
          <a:p xmlns:a="http://schemas.openxmlformats.org/drawingml/2006/main">
            <a:r>
              <a:t>기획생산·가공·체험 연계는 첨부 보고서의 농촌융복합산업 인증자료 인용에 근거. 인증자료의 원문 및 발표일은 확인 필요. 한국시사경제 총회 보도 발표일 2026-03-30은 원문 확인. 2025년 실적을 다룬 기사이나 금액은 이 자료에서 사용하지 않음.</a:t>
            </a:r>
          </a:p>
          <a:p xmlns:a="http://schemas.openxmlformats.org/drawingml/2006/main">
            <a:r>
              <a:t>https://xn--980b99s59h34f6tl.com/biz/company.cs?act=view&amp;idx=206&amp;pageIndex=271&amp;searchKeyword=</a:t>
            </a:r>
          </a:p>
          <a:p xmlns:a="http://schemas.openxmlformats.org/drawingml/2006/main">
            <a:r>
              <a:t>https://www.hksisaeconomy.com/news/article.html?no=1093833</a:t>
            </a:r>
          </a:p>
          <a:p xmlns:a="http://schemas.openxmlformats.org/drawingml/2006/main">
            <a:r>
              <a:t/>
            </a:r>
          </a:p>
          <a:p xmlns:a="http://schemas.openxmlformats.org/drawingml/2006/main">
            <a:r>
              <a:t>옥천살림</a:t>
            </a:r>
          </a:p>
          <a:p xmlns:a="http://schemas.openxmlformats.org/drawingml/2006/main">
            <a:r>
              <a:t>첨부 보고서의 연합뉴스 2024-06-04 및 군의회 회의록 인용에 근거. 연합뉴스 원문은 접근 불가하여 추가 확인 필요. 보고서에 따르면 옥천살림 위탁기간은 2022-03~2025-02이고 이후 운영주체 변경. 현재 옥천직매장 성과를 옥천살림 성과로 표시하지 않음.</a:t>
            </a:r>
          </a:p>
          <a:p xmlns:a="http://schemas.openxmlformats.org/drawingml/2006/main">
            <a:r>
              <a:t>https://www.yna.co.kr/view/AKR20240604061000064</a:t>
            </a:r>
          </a:p>
          <a:p xmlns:a="http://schemas.openxmlformats.org/drawingml/2006/main">
            <a:r>
              <a:t>https://council.oc.go.kr/viewer/minutes/13143.do</a:t>
            </a:r>
          </a:p>
          <a:p xmlns:a="http://schemas.openxmlformats.org/drawingml/2006/main">
            <a:r>
              <a:t/>
            </a:r>
          </a:p>
          <a:p xmlns:a="http://schemas.openxmlformats.org/drawingml/2006/main">
            <a:r>
              <a:t>언니네텃밭</a:t>
            </a:r>
          </a:p>
          <a:p xmlns:a="http://schemas.openxmlformats.org/drawingml/2006/main">
            <a:r>
              <a:t>공식 홈페이지에서 꾸러미 신청·생산자공동체·연간배송달력·온라인 장터 메뉴 확인. 발표일 확인 필요. 열람일 2026-10-28. 과거 창립공고일을 현재 서비스 발표일로 대체하지 않음. 정기구독이 생산안정에 미치는 효과는 추정.</a:t>
            </a:r>
          </a:p>
          <a:p xmlns:a="http://schemas.openxmlformats.org/drawingml/2006/main">
            <a:r>
              <a:t>https://sistersgarden.org/</a:t>
            </a:r>
          </a:p>
          <a:p xmlns:a="http://schemas.openxmlformats.org/drawingml/2006/main">
            <a:r>
              <a:t/>
            </a:r>
          </a:p>
          <a:p xmlns:a="http://schemas.openxmlformats.org/drawingml/2006/main">
            <a:r>
              <a:t>품앗이마을</a:t>
            </a:r>
          </a:p>
          <a:p xmlns:a="http://schemas.openxmlformats.org/drawingml/2006/main">
            <a:r>
              <a:t>Google Play 행복ICT 생산자 앱 소개 원문에서 생산계획·출하·판매내역·정산 기능 확인. 발표일 확인 필요. 앱 업데이트일 2025-08-17. 열람일 2026-10-28. 앱 다운로드 수를 실사용자나 경영성과로 간주하지 않음. 사회적협동조합과 현 매장 운영법인의 관계 확인 필요.</a:t>
            </a:r>
          </a:p>
          <a:p xmlns:a="http://schemas.openxmlformats.org/drawingml/2006/main">
            <a:r>
              <a:t>https://play.google.com/store/apps/details?hl=ko&amp;id=kr.co.happyict.localfood.djsaenghyeop</a:t>
            </a:r>
          </a:p>
          <a:p xmlns:a="http://schemas.openxmlformats.org/drawingml/2006/main">
            <a:r>
              <a:t/>
            </a:r>
          </a:p>
          <a:p xmlns:a="http://schemas.openxmlformats.org/drawingml/2006/main">
            <a:r>
              <a:t>양평</a:t>
            </a:r>
          </a:p>
          <a:p xmlns:a="http://schemas.openxmlformats.org/drawingml/2006/main">
            <a:r>
              <a:t>에코저널 이사장 인터뷰 2024-09-16 원문 확인. 조직 전환 및 조달범위 확대는 인터뷰 진술이며 일반 법률 해석으로 확대하지 않음. 공식 합병 공고 원문 재확인 및 법적 효력일 확인 필요. 조직 전환이 매출이나 수익성을 개선했다는 인과관계는 확인되지 않음.</a:t>
            </a:r>
          </a:p>
          <a:p xmlns:a="http://schemas.openxmlformats.org/drawingml/2006/main">
            <a:r>
              <a:t>https://www.ecojournal.co.kr/m/view.php?idx=154258</a:t>
            </a:r>
          </a:p>
          <a:p xmlns:a="http://schemas.openxmlformats.org/drawingml/2006/main">
            <a:r>
              <a:t>https://yplfood.com/bbs/board.php?bo_table=notice&amp;wr_id=13</a:t>
            </a:r>
          </a:p>
          <a:p xmlns:a="http://schemas.openxmlformats.org/drawingml/2006/main">
            <a:r>
              <a:t/>
            </a:r>
          </a:p>
          <a:p xmlns:a="http://schemas.openxmlformats.org/drawingml/2006/main">
            <a:r>
              <a:t>적용안은 확정된 사업계획이 아닌 제안이다. 우리 조합의 현재 매장 수, 채널 운영, 꾸러미 운영, 시스템 연계 상태를 사실로 전제하지 않는다. 실행 담당자·예산·기한·목표치·기준값은 확인 필요. 지표는 운영 전후 비교를 위한 제안이며 개선 수치를 만들지 않았다. 제천 관련 외부 보도는 내부 운영 현황을 확정하는 근거로 쓰지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77f6c71fe4e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d00a78c52f4d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9b7a47088f4b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5bc988a19b4d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9eca51f2954a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84ffbfee0344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A2723E-AA36-4D83-927A-69A1122BE5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A59073-B116-480E-8FA2-3A2E3B5D42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7FACFA-BDAA-42BA-8BE9-ADF68D5BF6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B7D2EE-38C9-469B-B4EB-7DA0E5192C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44C04E-3CEA-4CD5-A2AF-0189C0F8AD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2079E5-E801-43AF-8A89-311FDF102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711939-0530-4F6F-A36D-CC5E3D6BCE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261E1A-D8B1-4EE9-BC33-2C57A4D514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4232A-BFEB-492A-9054-1A21ABDFA3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A98B8B-667D-4ABE-B8C0-7B674E0173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ee3def355a4ff7" /><Relationship Type="http://schemas.openxmlformats.org/officeDocument/2006/relationships/slideLayout" Target="/ppt/slideLayouts/slideLayout1.xml" Id="R075ac07b32284af9" /><Relationship Type="http://schemas.openxmlformats.org/officeDocument/2006/relationships/slideLayout" Target="/ppt/slideLayouts/slideLayout2.xml" Id="R55d571f2798d405d" /><Relationship Type="http://schemas.openxmlformats.org/officeDocument/2006/relationships/slideLayout" Target="/ppt/slideLayouts/slideLayout3.xml" Id="R7cdc2560bd344a66" /><Relationship Type="http://schemas.openxmlformats.org/officeDocument/2006/relationships/slideLayout" Target="/ppt/slideLayouts/slideLayout4.xml" Id="R987b2924c32d4db0" /><Relationship Type="http://schemas.openxmlformats.org/officeDocument/2006/relationships/slideLayout" Target="/ppt/slideLayouts/slideLayout5.xml" Id="R2eb575854c0649ae" /><Relationship Type="http://schemas.openxmlformats.org/officeDocument/2006/relationships/slideLayout" Target="/ppt/slideLayouts/slideLayout6.xml" Id="R6e87b23fbebd4f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5ac07b32284af9"/>
    <p:sldLayoutId xmlns:r="http://schemas.openxmlformats.org/officeDocument/2006/relationships" id="2147483650" r:id="R55d571f2798d405d"/>
    <p:sldLayoutId xmlns:r="http://schemas.openxmlformats.org/officeDocument/2006/relationships" id="2147483651" r:id="R7cdc2560bd344a66"/>
    <p:sldLayoutId xmlns:r="http://schemas.openxmlformats.org/officeDocument/2006/relationships" id="2147483652" r:id="R987b2924c32d4db0"/>
    <p:sldLayoutId xmlns:r="http://schemas.openxmlformats.org/officeDocument/2006/relationships" id="2147483653" r:id="R2eb575854c0649ae"/>
    <p:sldLayoutId xmlns:r="http://schemas.openxmlformats.org/officeDocument/2006/relationships" id="2147483654" r:id="R6e87b23fbebd4f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203f0f595943c7" /><Relationship Type="http://schemas.openxmlformats.org/officeDocument/2006/relationships/hyperlink" Target="https://xn--980b99s59h34f6tl.com/biz/company.cs?act=view&amp;idx=206&amp;pageIndex=271&amp;searchKeyword=" TargetMode="External" Id="R6b9c0b8373ce4abf" /><Relationship Type="http://schemas.openxmlformats.org/officeDocument/2006/relationships/hyperlink" Target="https://www.hksisaeconomy.com/news/article.html?no=1093833" TargetMode="External" Id="R83259dbf7a25496c" /><Relationship Type="http://schemas.openxmlformats.org/officeDocument/2006/relationships/hyperlink" Target="https://www.yna.co.kr/view/AKR20240604061000064" TargetMode="External" Id="R34eba075d35444ac" /><Relationship Type="http://schemas.openxmlformats.org/officeDocument/2006/relationships/hyperlink" Target="https://sistersgarden.org/" TargetMode="External" Id="R6e5e9a899fe042e8" /><Relationship Type="http://schemas.openxmlformats.org/officeDocument/2006/relationships/hyperlink" Target="https://play.google.com/store/apps/details?hl=ko&amp;id=kr.co.happyict.localfood.djsaenghyeop" TargetMode="External" Id="Ra6f6612ce1074d59" /><Relationship Type="http://schemas.openxmlformats.org/officeDocument/2006/relationships/hyperlink" Target="https://www.ecojournal.co.kr/m/view.php?idx=154258" TargetMode="External" Id="R8c2c4c05591e44f4" /><Relationship Type="http://schemas.openxmlformats.org/officeDocument/2006/relationships/notesSlide" Target="/ppt/notesSlides/notesSlide1.xml" Id="Ra6fc8a1fe1b749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2b2f49f529498e" /><Relationship Type="http://schemas.openxmlformats.org/officeDocument/2006/relationships/notesSlide" Target="/ppt/notesSlides/notesSlide2.xml" Id="Raea2ecbd3ac944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0811ac45174ad4" /><Relationship Type="http://schemas.openxmlformats.org/officeDocument/2006/relationships/notesSlide" Target="/ppt/notesSlides/notesSlide3.xml" Id="R8544aaf364f047f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138B686-FDDB-463C-A42C-1CB085650166}"/>
              </a:ext>
            </a:extLst>
          </p:cNvPr>
          <p:cNvSpPr>
            <a:spLocks xmlns:a="http://schemas.openxmlformats.org/drawingml/2006/main" noGrp="1"/>
          </p:cNvSpPr>
          <p:nvPr/>
        </p:nvSpPr>
        <p:spPr>
          <a:xfrm xmlns:a="http://schemas.openxmlformats.org/drawingml/2006/main">
            <a:off x="533400" y="3238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17365D"/>
                </a:solidFill>
                <a:latin typeface="Noto Sans CJK KR"/>
                <a:ea typeface="Noto Sans CJK KR"/>
                <a:cs typeface="Noto Sans CJK KR"/>
              </a:defRPr>
            </a:defPPr>
            <a:lvl1pPr algn="l">
              <a:defRPr sz="3200" b="1">
                <a:solidFill>
                  <a:srgbClr val="17365D"/>
                </a:solidFill>
                <a:latin typeface="Noto Sans CJK KR"/>
                <a:ea typeface="Noto Sans CJK KR"/>
                <a:cs typeface="Noto Sans CJK KR"/>
              </a:defRPr>
            </a:lvl1pPr>
            <a:lvl2pPr algn="l">
              <a:defRPr sz="3200" b="1">
                <a:solidFill>
                  <a:srgbClr val="17365D"/>
                </a:solidFill>
                <a:latin typeface="Noto Sans CJK KR"/>
                <a:ea typeface="Noto Sans CJK KR"/>
                <a:cs typeface="Noto Sans CJK KR"/>
              </a:defRPr>
            </a:lvl2pPr>
            <a:lvl3pPr algn="l">
              <a:defRPr sz="3200" b="1">
                <a:solidFill>
                  <a:srgbClr val="17365D"/>
                </a:solidFill>
                <a:latin typeface="Noto Sans CJK KR"/>
                <a:ea typeface="Noto Sans CJK KR"/>
                <a:cs typeface="Noto Sans CJK KR"/>
              </a:defRPr>
            </a:lvl3pPr>
            <a:lvl4pPr algn="l">
              <a:defRPr sz="3200" b="1">
                <a:solidFill>
                  <a:srgbClr val="17365D"/>
                </a:solidFill>
                <a:latin typeface="Noto Sans CJK KR"/>
                <a:ea typeface="Noto Sans CJK KR"/>
                <a:cs typeface="Noto Sans CJK KR"/>
              </a:defRPr>
            </a:lvl4pPr>
            <a:lvl5pPr algn="l">
              <a:defRPr sz="3200" b="1">
                <a:solidFill>
                  <a:srgbClr val="17365D"/>
                </a:solidFill>
                <a:latin typeface="Noto Sans CJK KR"/>
                <a:ea typeface="Noto Sans CJK KR"/>
                <a:cs typeface="Noto Sans CJK KR"/>
              </a:defRPr>
            </a:lvl5pPr>
            <a:lvl6pPr algn="l">
              <a:defRPr sz="3200" b="1">
                <a:solidFill>
                  <a:srgbClr val="17365D"/>
                </a:solidFill>
                <a:latin typeface="Noto Sans CJK KR"/>
                <a:ea typeface="Noto Sans CJK KR"/>
                <a:cs typeface="Noto Sans CJK KR"/>
              </a:defRPr>
            </a:lvl6pPr>
            <a:lvl7pPr algn="l">
              <a:defRPr sz="3200" b="1">
                <a:solidFill>
                  <a:srgbClr val="17365D"/>
                </a:solidFill>
                <a:latin typeface="Noto Sans CJK KR"/>
                <a:ea typeface="Noto Sans CJK KR"/>
                <a:cs typeface="Noto Sans CJK KR"/>
              </a:defRPr>
            </a:lvl7pPr>
            <a:lvl8pPr algn="l">
              <a:defRPr sz="3200" b="1">
                <a:solidFill>
                  <a:srgbClr val="17365D"/>
                </a:solidFill>
                <a:latin typeface="Noto Sans CJK KR"/>
                <a:ea typeface="Noto Sans CJK KR"/>
                <a:cs typeface="Noto Sans CJK KR"/>
              </a:defRPr>
            </a:lvl8pPr>
            <a:lvl9pPr algn="l">
              <a:defRPr sz="3200" b="1">
                <a:solidFill>
                  <a:srgbClr val="17365D"/>
                </a:solidFill>
                <a:latin typeface="Noto Sans CJK KR"/>
                <a:ea typeface="Noto Sans CJK KR"/>
                <a:cs typeface="Noto Sans CJK KR"/>
              </a:defRPr>
            </a:lvl9pPr>
          </a:lstStyle>
          <a:p xmlns:a="http://schemas.openxmlformats.org/drawingml/2006/main">
            <a:pPr algn="l">
              <a:defRPr sz="3200" b="1">
                <a:solidFill>
                  <a:srgbClr val="17365D"/>
                </a:solidFill>
                <a:latin typeface="Noto Sans CJK KR"/>
                <a:ea typeface="Noto Sans CJK KR"/>
                <a:cs typeface="Noto Sans CJK KR"/>
              </a:defRPr>
            </a:pPr>
            <a:r>
              <a:rPr sz="3200" b="1">
                <a:solidFill>
                  <a:srgbClr val="17365D"/>
                </a:solidFill>
                <a:latin typeface="Noto Sans CJK KR"/>
                <a:ea typeface="Noto Sans CJK KR"/>
                <a:cs typeface="Noto Sans CJK KR"/>
              </a:rPr>
              <a:t>국내 협동조합 혁신사례</a:t>
            </a:r>
          </a:p>
        </p:txBody>
      </p:sp>
      <p:sp>
        <p:nvSpPr>
          <p:cNvPr id="2" name="slide-intro">
            <a:extLst xmlns:a="http://schemas.openxmlformats.org/drawingml/2006/main">
              <a:ext uri="{FF2B5EF4-FFF2-40B4-BE49-F238E27FC236}">
                <a16:creationId xmlns:a16="http://schemas.microsoft.com/office/drawing/2014/main" id="{DD224CBB-CBF8-43CB-BC65-43D91182F97C}"/>
              </a:ext>
            </a:extLst>
          </p:cNvPr>
          <p:cNvSpPr>
            <a:spLocks xmlns:a="http://schemas.openxmlformats.org/drawingml/2006/main" noGrp="1"/>
          </p:cNvSpPr>
          <p:nvPr/>
        </p:nvSpPr>
        <p:spPr>
          <a:xfrm xmlns:a="http://schemas.openxmlformats.org/drawingml/2006/main">
            <a:off x="533400" y="1000125"/>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외부 5개 사례의 운영 방식과 제천로컬푸드가 참고할 과제</a:t>
            </a:r>
          </a:p>
        </p:txBody>
      </p:sp>
      <p:graphicFrame>
        <p:nvGraphicFramePr>
          <p:cNvPr id="3" name="">
            <a:extLst xmlns:a="http://schemas.openxmlformats.org/drawingml/2006/main">
              <a:ext uri="{FF2B5EF4-FFF2-40B4-BE49-F238E27FC236}">
                <a16:creationId xmlns:a16="http://schemas.microsoft.com/office/drawing/2014/main" id="{62AB2D66-9CCB-4551-8D47-BB0B544AC7DB}"/>
              </a:ext>
            </a:extLst>
          </p:cNvPr>
          <p:cNvGraphicFramePr/>
          <p:nvPr/>
        </p:nvGraphicFramePr>
        <p:xfrm>
          <a:off xmlns:a="http://schemas.openxmlformats.org/drawingml/2006/main" x="533400" y="1466850"/>
          <a:ext xmlns:a="http://schemas.openxmlformats.org/drawingml/2006/main" cx="11125200" cy="4552950"/>
        </p:xfrm>
        <a:graphic xmlns:a="http://schemas.openxmlformats.org/drawingml/2006/main">
          <a:graphicData uri="http://schemas.openxmlformats.org/drawingml/2006/table">
            <a:tbl>
              <a:tblPr firstRow="0" bandRow="0"/>
              <a:tblGrid>
                <a:gridCol w="1638300"/>
                <a:gridCol w="4286250"/>
                <a:gridCol w="5200650"/>
              </a:tblGrid>
              <a:tr h="457200">
                <a:tc>
                  <a:txBody>
                    <a:bodyPr>
                      <a:noAutofit/>
                    </a:bodyPr>
                    <a:lstStyle/>
                    <a:p>
                      <a:r>
                        <a:rPr sz="1800" b="1">
                          <a:solidFill>
                            <a:srgbClr val="FFFFFF"/>
                          </a:solidFill>
                          <a:latin typeface="Noto Sans CJK KR"/>
                          <a:ea typeface="Noto Sans CJK KR"/>
                          <a:cs typeface="Noto Sans CJK KR"/>
                        </a:rPr>
                        <a:t>사례</a:t>
                      </a:r>
                    </a:p>
                  </a:txBody>
                  <a:tcPr marL="133350" marR="133350" marT="95250" marB="95250" anchor="ctr">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c>
                  <a:txBody>
                    <a:bodyPr>
                      <a:noAutofit/>
                    </a:bodyPr>
                    <a:lstStyle/>
                    <a:p>
                      <a:r>
                        <a:rPr sz="1800" b="1">
                          <a:solidFill>
                            <a:srgbClr val="FFFFFF"/>
                          </a:solidFill>
                          <a:latin typeface="Noto Sans CJK KR"/>
                          <a:ea typeface="Noto Sans CJK KR"/>
                          <a:cs typeface="Noto Sans CJK KR"/>
                        </a:rPr>
                        <a:t>운영 방식과 참고사항</a:t>
                      </a:r>
                    </a:p>
                  </a:txBody>
                  <a:tcPr marL="133350" marR="133350" marT="95250" marB="95250" anchor="ctr">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c>
                  <a:txBody>
                    <a:bodyPr>
                      <a:noAutofit/>
                    </a:bodyPr>
                    <a:lstStyle/>
                    <a:p>
                      <a:r>
                        <a:rPr sz="1800" b="1">
                          <a:solidFill>
                            <a:srgbClr val="FFFFFF"/>
                          </a:solidFill>
                          <a:latin typeface="Noto Sans CJK KR"/>
                          <a:ea typeface="Noto Sans CJK KR"/>
                          <a:cs typeface="Noto Sans CJK KR"/>
                        </a:rPr>
                        <a:t>출처와 발표일</a:t>
                      </a:r>
                    </a:p>
                  </a:txBody>
                  <a:tcPr marL="133350" marR="133350" marT="95250" marB="95250" anchor="ctr">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r>
              <a:tr h="819150">
                <a:tc>
                  <a:txBody>
                    <a:bodyPr>
                      <a:noAutofit/>
                    </a:bodyPr>
                    <a:lstStyle/>
                    <a:p>
                      <a:r>
                        <a:rPr sz="1800" b="1">
                          <a:solidFill>
                            <a:srgbClr val="263544"/>
                          </a:solidFill>
                          <a:latin typeface="Noto Sans CJK KR"/>
                          <a:ea typeface="Noto Sans CJK KR"/>
                          <a:cs typeface="Noto Sans CJK KR"/>
                        </a:rPr>
                        <a:t>완주</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기획생산·가공·체험 연계</a:t>
                      </a:r>
                    </a:p>
                    <a:p>
                      <a:r>
                        <a:rPr sz="1800" b="0">
                          <a:solidFill>
                            <a:srgbClr val="263544"/>
                          </a:solidFill>
                          <a:latin typeface="Noto Sans CJK KR"/>
                          <a:ea typeface="Noto Sans CJK KR"/>
                          <a:cs typeface="Noto Sans CJK KR"/>
                        </a:rPr>
                        <a:t>생산자와 소비자 교류</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hlinkClick xmlns:r="http://schemas.openxmlformats.org/officeDocument/2006/relationships" r:id="R6b9c0b8373ce4abf"/>
                        </a:rPr>
                        <a:t>공공 인증자료</a:t>
                      </a:r>
                      <a:r>
                        <a:rPr sz="1800" b="0">
                          <a:solidFill>
                            <a:srgbClr val="263544"/>
                          </a:solidFill>
                          <a:latin typeface="Noto Sans CJK KR"/>
                          <a:ea typeface="Noto Sans CJK KR"/>
                          <a:cs typeface="Noto Sans CJK KR"/>
                        </a:rPr>
                        <a:t>·</a:t>
                      </a:r>
                      <a:r>
                        <a:rPr sz="1800" b="0">
                          <a:solidFill>
                            <a:srgbClr val="263544"/>
                          </a:solidFill>
                          <a:latin typeface="Noto Sans CJK KR"/>
                          <a:ea typeface="Noto Sans CJK KR"/>
                          <a:cs typeface="Noto Sans CJK KR"/>
                          <a:hlinkClick xmlns:r="http://schemas.openxmlformats.org/officeDocument/2006/relationships" r:id="R83259dbf7a25496c"/>
                        </a:rPr>
                        <a:t>한국시사경제</a:t>
                      </a:r>
                    </a:p>
                    <a:p>
                      <a:r>
                        <a:rPr sz="1800" b="0">
                          <a:solidFill>
                            <a:srgbClr val="263544"/>
                          </a:solidFill>
                          <a:latin typeface="Noto Sans CJK KR"/>
                          <a:ea typeface="Noto Sans CJK KR"/>
                          <a:cs typeface="Noto Sans CJK KR"/>
                        </a:rPr>
                        <a:t>발표일 확인 필요 / 2026.03.30.</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819150">
                <a:tc>
                  <a:txBody>
                    <a:bodyPr>
                      <a:noAutofit/>
                    </a:bodyPr>
                    <a:lstStyle/>
                    <a:p>
                      <a:r>
                        <a:rPr sz="1800" b="1">
                          <a:solidFill>
                            <a:srgbClr val="263544"/>
                          </a:solidFill>
                          <a:latin typeface="Noto Sans CJK KR"/>
                          <a:ea typeface="Noto Sans CJK KR"/>
                          <a:cs typeface="Noto Sans CJK KR"/>
                        </a:rPr>
                        <a:t>옥천살림</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인증농가·직매장 연계</a:t>
                      </a:r>
                    </a:p>
                    <a:p>
                      <a:r>
                        <a:rPr sz="1800" b="0">
                          <a:solidFill>
                            <a:srgbClr val="263544"/>
                          </a:solidFill>
                          <a:latin typeface="Noto Sans CJK KR"/>
                          <a:ea typeface="Noto Sans CJK KR"/>
                          <a:cs typeface="Noto Sans CJK KR"/>
                        </a:rPr>
                        <a:t>과거 운영기간 기준 사례</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hlinkClick xmlns:r="http://schemas.openxmlformats.org/officeDocument/2006/relationships" r:id="R34eba075d35444ac"/>
                        </a:rPr>
                        <a:t>연합뉴스</a:t>
                      </a:r>
                      <a:r>
                        <a:rPr sz="1800" b="0">
                          <a:solidFill>
                            <a:srgbClr val="263544"/>
                          </a:solidFill>
                          <a:latin typeface="Noto Sans CJK KR"/>
                          <a:ea typeface="Noto Sans CJK KR"/>
                          <a:cs typeface="Noto Sans CJK KR"/>
                        </a:rPr>
                        <a:t> 2024.06.04.</a:t>
                      </a:r>
                    </a:p>
                    <a:p>
                      <a:r>
                        <a:rPr sz="1800" b="0">
                          <a:solidFill>
                            <a:srgbClr val="263544"/>
                          </a:solidFill>
                          <a:latin typeface="Noto Sans CJK KR"/>
                          <a:ea typeface="Noto Sans CJK KR"/>
                          <a:cs typeface="Noto Sans CJK KR"/>
                        </a:rPr>
                        <a:t>첨부 보고서 인용·원문 확인 필요</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819150">
                <a:tc>
                  <a:txBody>
                    <a:bodyPr>
                      <a:noAutofit/>
                    </a:bodyPr>
                    <a:lstStyle/>
                    <a:p>
                      <a:r>
                        <a:rPr sz="1800" b="1">
                          <a:solidFill>
                            <a:srgbClr val="263544"/>
                          </a:solidFill>
                          <a:latin typeface="Noto Sans CJK KR"/>
                          <a:ea typeface="Noto Sans CJK KR"/>
                          <a:cs typeface="Noto Sans CJK KR"/>
                        </a:rPr>
                        <a:t>언니네텃밭</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정기 꾸러미·온라인 장터</a:t>
                      </a:r>
                    </a:p>
                    <a:p>
                      <a:r>
                        <a:rPr sz="1800" b="0">
                          <a:solidFill>
                            <a:srgbClr val="263544"/>
                          </a:solidFill>
                          <a:latin typeface="Noto Sans CJK KR"/>
                          <a:ea typeface="Noto Sans CJK KR"/>
                          <a:cs typeface="Noto Sans CJK KR"/>
                        </a:rPr>
                        <a:t>생산자공동체·배송달력</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hlinkClick xmlns:r="http://schemas.openxmlformats.org/officeDocument/2006/relationships" r:id="R6e5e9a899fe042e8"/>
                        </a:rPr>
                        <a:t>조합 공식 홈페이지</a:t>
                      </a:r>
                    </a:p>
                    <a:p>
                      <a:r>
                        <a:rPr sz="1800" b="0">
                          <a:solidFill>
                            <a:srgbClr val="263544"/>
                          </a:solidFill>
                          <a:latin typeface="Noto Sans CJK KR"/>
                          <a:ea typeface="Noto Sans CJK KR"/>
                          <a:cs typeface="Noto Sans CJK KR"/>
                        </a:rPr>
                        <a:t>발표일 확인 필요</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819150">
                <a:tc>
                  <a:txBody>
                    <a:bodyPr>
                      <a:noAutofit/>
                    </a:bodyPr>
                    <a:lstStyle/>
                    <a:p>
                      <a:r>
                        <a:rPr sz="1800" b="1">
                          <a:solidFill>
                            <a:srgbClr val="263544"/>
                          </a:solidFill>
                          <a:latin typeface="Noto Sans CJK KR"/>
                          <a:ea typeface="Noto Sans CJK KR"/>
                          <a:cs typeface="Noto Sans CJK KR"/>
                        </a:rPr>
                        <a:t>품앗이마을</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생산·판매·정산 앱 공유</a:t>
                      </a:r>
                    </a:p>
                    <a:p>
                      <a:r>
                        <a:rPr sz="1800" b="0">
                          <a:solidFill>
                            <a:srgbClr val="263544"/>
                          </a:solidFill>
                          <a:latin typeface="Noto Sans CJK KR"/>
                          <a:ea typeface="Noto Sans CJK KR"/>
                          <a:cs typeface="Noto Sans CJK KR"/>
                        </a:rPr>
                        <a:t>현 운영법인 관계 확인 필요</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hlinkClick xmlns:r="http://schemas.openxmlformats.org/officeDocument/2006/relationships" r:id="Ra6f6612ce1074d59"/>
                        </a:rPr>
                        <a:t>행복ICT 앱 소개</a:t>
                      </a:r>
                      <a:r>
                        <a:rPr sz="1800" b="0">
                          <a:solidFill>
                            <a:srgbClr val="263544"/>
                          </a:solidFill>
                          <a:latin typeface="Noto Sans CJK KR"/>
                          <a:ea typeface="Noto Sans CJK KR"/>
                          <a:cs typeface="Noto Sans CJK KR"/>
                        </a:rPr>
                        <a:t>: 발표일 확인 필요</a:t>
                      </a:r>
                    </a:p>
                    <a:p>
                      <a:r>
                        <a:rPr sz="1800" b="0">
                          <a:solidFill>
                            <a:srgbClr val="263544"/>
                          </a:solidFill>
                          <a:latin typeface="Noto Sans CJK KR"/>
                          <a:ea typeface="Noto Sans CJK KR"/>
                          <a:cs typeface="Noto Sans CJK KR"/>
                        </a:rPr>
                        <a:t>업데이트 2025.08.17.</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819150">
                <a:tc>
                  <a:txBody>
                    <a:bodyPr>
                      <a:noAutofit/>
                    </a:bodyPr>
                    <a:lstStyle/>
                    <a:p>
                      <a:r>
                        <a:rPr sz="1800" b="1">
                          <a:solidFill>
                            <a:srgbClr val="263544"/>
                          </a:solidFill>
                          <a:latin typeface="Noto Sans CJK KR"/>
                          <a:ea typeface="Noto Sans CJK KR"/>
                          <a:cs typeface="Noto Sans CJK KR"/>
                        </a:rPr>
                        <a:t>양평</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조직 전환·조달 범위 확대 시도</a:t>
                      </a:r>
                    </a:p>
                    <a:p>
                      <a:r>
                        <a:rPr sz="1800" b="0">
                          <a:solidFill>
                            <a:srgbClr val="263544"/>
                          </a:solidFill>
                          <a:latin typeface="Noto Sans CJK KR"/>
                          <a:ea typeface="Noto Sans CJK KR"/>
                          <a:cs typeface="Noto Sans CJK KR"/>
                        </a:rPr>
                        <a:t>경영개선 효과 확인 필요</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hlinkClick xmlns:r="http://schemas.openxmlformats.org/officeDocument/2006/relationships" r:id="R8c2c4c05591e44f4"/>
                        </a:rPr>
                        <a:t>에코저널 이사장 인터뷰</a:t>
                      </a:r>
                    </a:p>
                    <a:p>
                      <a:r>
                        <a:rPr sz="1800" b="0">
                          <a:solidFill>
                            <a:srgbClr val="263544"/>
                          </a:solidFill>
                          <a:latin typeface="Noto Sans CJK KR"/>
                          <a:ea typeface="Noto Sans CJK KR"/>
                          <a:cs typeface="Noto Sans CJK KR"/>
                        </a:rPr>
                        <a:t>2024.09.16.</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bl>
          </a:graphicData>
        </a:graphic>
      </p:graphicFrame>
      <p:sp>
        <p:nvSpPr>
          <p:cNvPr id="4" name="evidence-disclosure">
            <a:extLst xmlns:a="http://schemas.openxmlformats.org/drawingml/2006/main">
              <a:ext uri="{FF2B5EF4-FFF2-40B4-BE49-F238E27FC236}">
                <a16:creationId xmlns:a16="http://schemas.microsoft.com/office/drawing/2014/main" id="{7A165D5E-5BBF-40EA-8B1C-CDCE942FF701}"/>
              </a:ext>
            </a:extLst>
          </p:cNvPr>
          <p:cNvSpPr>
            <a:spLocks xmlns:a="http://schemas.openxmlformats.org/drawingml/2006/main" noGrp="1"/>
          </p:cNvSpPr>
          <p:nvPr/>
        </p:nvSpPr>
        <p:spPr>
          <a:xfrm xmlns:a="http://schemas.openxmlformats.org/drawingml/2006/main">
            <a:off x="533400" y="6153150"/>
            <a:ext cx="1112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옥천은 운영주체 변경 전 사례. 발표일·업데이트일·열람일은 구분함</a:t>
            </a:r>
          </a:p>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열람일 2026.10.28. / 원문 링크와 확인사항은 발표자 메모에 수록</a:t>
            </a:r>
          </a:p>
        </p:txBody>
      </p:sp>
    </p:spTree>
    <p:extLst>
      <p:ext uri="{BB962C8B-B14F-4D97-AF65-F5344CB8AC3E}">
        <p14:creationId xmlns:p14="http://schemas.microsoft.com/office/powerpoint/2010/main" val="7045667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A3D5DAE7-02E0-4D7F-BD50-661F7E310395}"/>
              </a:ext>
            </a:extLst>
          </p:cNvPr>
          <p:cNvSpPr>
            <a:spLocks xmlns:a="http://schemas.openxmlformats.org/drawingml/2006/main" noGrp="1"/>
          </p:cNvSpPr>
          <p:nvPr/>
        </p:nvSpPr>
        <p:spPr>
          <a:xfrm xmlns:a="http://schemas.openxmlformats.org/drawingml/2006/main">
            <a:off x="533400" y="3238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17365D"/>
                </a:solidFill>
                <a:latin typeface="Noto Sans CJK KR"/>
                <a:ea typeface="Noto Sans CJK KR"/>
                <a:cs typeface="Noto Sans CJK KR"/>
              </a:defRPr>
            </a:defPPr>
            <a:lvl1pPr algn="l">
              <a:defRPr sz="3200" b="1">
                <a:solidFill>
                  <a:srgbClr val="17365D"/>
                </a:solidFill>
                <a:latin typeface="Noto Sans CJK KR"/>
                <a:ea typeface="Noto Sans CJK KR"/>
                <a:cs typeface="Noto Sans CJK KR"/>
              </a:defRPr>
            </a:lvl1pPr>
            <a:lvl2pPr algn="l">
              <a:defRPr sz="3200" b="1">
                <a:solidFill>
                  <a:srgbClr val="17365D"/>
                </a:solidFill>
                <a:latin typeface="Noto Sans CJK KR"/>
                <a:ea typeface="Noto Sans CJK KR"/>
                <a:cs typeface="Noto Sans CJK KR"/>
              </a:defRPr>
            </a:lvl2pPr>
            <a:lvl3pPr algn="l">
              <a:defRPr sz="3200" b="1">
                <a:solidFill>
                  <a:srgbClr val="17365D"/>
                </a:solidFill>
                <a:latin typeface="Noto Sans CJK KR"/>
                <a:ea typeface="Noto Sans CJK KR"/>
                <a:cs typeface="Noto Sans CJK KR"/>
              </a:defRPr>
            </a:lvl3pPr>
            <a:lvl4pPr algn="l">
              <a:defRPr sz="3200" b="1">
                <a:solidFill>
                  <a:srgbClr val="17365D"/>
                </a:solidFill>
                <a:latin typeface="Noto Sans CJK KR"/>
                <a:ea typeface="Noto Sans CJK KR"/>
                <a:cs typeface="Noto Sans CJK KR"/>
              </a:defRPr>
            </a:lvl4pPr>
            <a:lvl5pPr algn="l">
              <a:defRPr sz="3200" b="1">
                <a:solidFill>
                  <a:srgbClr val="17365D"/>
                </a:solidFill>
                <a:latin typeface="Noto Sans CJK KR"/>
                <a:ea typeface="Noto Sans CJK KR"/>
                <a:cs typeface="Noto Sans CJK KR"/>
              </a:defRPr>
            </a:lvl5pPr>
            <a:lvl6pPr algn="l">
              <a:defRPr sz="3200" b="1">
                <a:solidFill>
                  <a:srgbClr val="17365D"/>
                </a:solidFill>
                <a:latin typeface="Noto Sans CJK KR"/>
                <a:ea typeface="Noto Sans CJK KR"/>
                <a:cs typeface="Noto Sans CJK KR"/>
              </a:defRPr>
            </a:lvl6pPr>
            <a:lvl7pPr algn="l">
              <a:defRPr sz="3200" b="1">
                <a:solidFill>
                  <a:srgbClr val="17365D"/>
                </a:solidFill>
                <a:latin typeface="Noto Sans CJK KR"/>
                <a:ea typeface="Noto Sans CJK KR"/>
                <a:cs typeface="Noto Sans CJK KR"/>
              </a:defRPr>
            </a:lvl7pPr>
            <a:lvl8pPr algn="l">
              <a:defRPr sz="3200" b="1">
                <a:solidFill>
                  <a:srgbClr val="17365D"/>
                </a:solidFill>
                <a:latin typeface="Noto Sans CJK KR"/>
                <a:ea typeface="Noto Sans CJK KR"/>
                <a:cs typeface="Noto Sans CJK KR"/>
              </a:defRPr>
            </a:lvl8pPr>
            <a:lvl9pPr algn="l">
              <a:defRPr sz="3200" b="1">
                <a:solidFill>
                  <a:srgbClr val="17365D"/>
                </a:solidFill>
                <a:latin typeface="Noto Sans CJK KR"/>
                <a:ea typeface="Noto Sans CJK KR"/>
                <a:cs typeface="Noto Sans CJK KR"/>
              </a:defRPr>
            </a:lvl9pPr>
          </a:lstStyle>
          <a:p xmlns:a="http://schemas.openxmlformats.org/drawingml/2006/main">
            <a:pPr algn="l">
              <a:defRPr sz="3200" b="1">
                <a:solidFill>
                  <a:srgbClr val="17365D"/>
                </a:solidFill>
                <a:latin typeface="Noto Sans CJK KR"/>
                <a:ea typeface="Noto Sans CJK KR"/>
                <a:cs typeface="Noto Sans CJK KR"/>
              </a:defRPr>
            </a:pPr>
            <a:r>
              <a:rPr sz="3200" b="1">
                <a:solidFill>
                  <a:srgbClr val="17365D"/>
                </a:solidFill>
                <a:latin typeface="Noto Sans CJK KR"/>
                <a:ea typeface="Noto Sans CJK KR"/>
                <a:cs typeface="Noto Sans CJK KR"/>
              </a:rPr>
              <a:t>사례에서 도출한 공통 성공 요인</a:t>
            </a:r>
          </a:p>
        </p:txBody>
      </p:sp>
      <p:sp>
        <p:nvSpPr>
          <p:cNvPr id="2" name="slide-intro">
            <a:extLst xmlns:a="http://schemas.openxmlformats.org/drawingml/2006/main">
              <a:ext uri="{FF2B5EF4-FFF2-40B4-BE49-F238E27FC236}">
                <a16:creationId xmlns:a16="http://schemas.microsoft.com/office/drawing/2014/main" id="{4A821340-DE7E-4EB1-BACC-C42D2EC9470F}"/>
              </a:ext>
            </a:extLst>
          </p:cNvPr>
          <p:cNvSpPr>
            <a:spLocks xmlns:a="http://schemas.openxmlformats.org/drawingml/2006/main" noGrp="1"/>
          </p:cNvSpPr>
          <p:nvPr/>
        </p:nvSpPr>
        <p:spPr>
          <a:xfrm xmlns:a="http://schemas.openxmlformats.org/drawingml/2006/main">
            <a:off x="533400" y="1000125"/>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추정: 사례의 공통점을 정리한 해석이며, 성과와의 인과관계는 미검증</a:t>
            </a:r>
          </a:p>
        </p:txBody>
      </p:sp>
      <p:sp>
        <p:nvSpPr>
          <p:cNvPr id="3" name="factor-no-0">
            <a:extLst xmlns:a="http://schemas.openxmlformats.org/drawingml/2006/main">
              <a:ext uri="{FF2B5EF4-FFF2-40B4-BE49-F238E27FC236}">
                <a16:creationId xmlns:a16="http://schemas.microsoft.com/office/drawing/2014/main" id="{3D8DF1EE-F95F-47AB-BD4B-2295D291B54B}"/>
              </a:ext>
            </a:extLst>
          </p:cNvPr>
          <p:cNvSpPr>
            <a:spLocks xmlns:a="http://schemas.openxmlformats.org/drawingml/2006/main" noGrp="1"/>
          </p:cNvSpPr>
          <p:nvPr/>
        </p:nvSpPr>
        <p:spPr>
          <a:xfrm xmlns:a="http://schemas.openxmlformats.org/drawingml/2006/main">
            <a:off x="533400" y="16192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01</a:t>
            </a:r>
          </a:p>
        </p:txBody>
      </p:sp>
      <p:sp>
        <p:nvSpPr>
          <p:cNvPr id="4" name="factor-title-0">
            <a:extLst xmlns:a="http://schemas.openxmlformats.org/drawingml/2006/main">
              <a:ext uri="{FF2B5EF4-FFF2-40B4-BE49-F238E27FC236}">
                <a16:creationId xmlns:a16="http://schemas.microsoft.com/office/drawing/2014/main" id="{775AFAE9-F476-43F8-8DB0-9088DE3A805A}"/>
              </a:ext>
            </a:extLst>
          </p:cNvPr>
          <p:cNvSpPr>
            <a:spLocks xmlns:a="http://schemas.openxmlformats.org/drawingml/2006/main" noGrp="1"/>
          </p:cNvSpPr>
          <p:nvPr/>
        </p:nvSpPr>
        <p:spPr>
          <a:xfrm xmlns:a="http://schemas.openxmlformats.org/drawingml/2006/main">
            <a:off x="1314450" y="16192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5D"/>
                </a:solidFill>
                <a:latin typeface="Noto Sans CJK KR"/>
                <a:ea typeface="Noto Sans CJK KR"/>
                <a:cs typeface="Noto Sans CJK KR"/>
              </a:defRPr>
            </a:defPPr>
            <a:lvl1pPr algn="l">
              <a:defRPr sz="1800" b="1">
                <a:solidFill>
                  <a:srgbClr val="17365D"/>
                </a:solidFill>
                <a:latin typeface="Noto Sans CJK KR"/>
                <a:ea typeface="Noto Sans CJK KR"/>
                <a:cs typeface="Noto Sans CJK KR"/>
              </a:defRPr>
            </a:lvl1pPr>
            <a:lvl2pPr algn="l">
              <a:defRPr sz="1800" b="1">
                <a:solidFill>
                  <a:srgbClr val="17365D"/>
                </a:solidFill>
                <a:latin typeface="Noto Sans CJK KR"/>
                <a:ea typeface="Noto Sans CJK KR"/>
                <a:cs typeface="Noto Sans CJK KR"/>
              </a:defRPr>
            </a:lvl2pPr>
            <a:lvl3pPr algn="l">
              <a:defRPr sz="1800" b="1">
                <a:solidFill>
                  <a:srgbClr val="17365D"/>
                </a:solidFill>
                <a:latin typeface="Noto Sans CJK KR"/>
                <a:ea typeface="Noto Sans CJK KR"/>
                <a:cs typeface="Noto Sans CJK KR"/>
              </a:defRPr>
            </a:lvl3pPr>
            <a:lvl4pPr algn="l">
              <a:defRPr sz="1800" b="1">
                <a:solidFill>
                  <a:srgbClr val="17365D"/>
                </a:solidFill>
                <a:latin typeface="Noto Sans CJK KR"/>
                <a:ea typeface="Noto Sans CJK KR"/>
                <a:cs typeface="Noto Sans CJK KR"/>
              </a:defRPr>
            </a:lvl4pPr>
            <a:lvl5pPr algn="l">
              <a:defRPr sz="1800" b="1">
                <a:solidFill>
                  <a:srgbClr val="17365D"/>
                </a:solidFill>
                <a:latin typeface="Noto Sans CJK KR"/>
                <a:ea typeface="Noto Sans CJK KR"/>
                <a:cs typeface="Noto Sans CJK KR"/>
              </a:defRPr>
            </a:lvl5pPr>
            <a:lvl6pPr algn="l">
              <a:defRPr sz="1800" b="1">
                <a:solidFill>
                  <a:srgbClr val="17365D"/>
                </a:solidFill>
                <a:latin typeface="Noto Sans CJK KR"/>
                <a:ea typeface="Noto Sans CJK KR"/>
                <a:cs typeface="Noto Sans CJK KR"/>
              </a:defRPr>
            </a:lvl6pPr>
            <a:lvl7pPr algn="l">
              <a:defRPr sz="1800" b="1">
                <a:solidFill>
                  <a:srgbClr val="17365D"/>
                </a:solidFill>
                <a:latin typeface="Noto Sans CJK KR"/>
                <a:ea typeface="Noto Sans CJK KR"/>
                <a:cs typeface="Noto Sans CJK KR"/>
              </a:defRPr>
            </a:lvl7pPr>
            <a:lvl8pPr algn="l">
              <a:defRPr sz="1800" b="1">
                <a:solidFill>
                  <a:srgbClr val="17365D"/>
                </a:solidFill>
                <a:latin typeface="Noto Sans CJK KR"/>
                <a:ea typeface="Noto Sans CJK KR"/>
                <a:cs typeface="Noto Sans CJK KR"/>
              </a:defRPr>
            </a:lvl8pPr>
            <a:lvl9pPr algn="l">
              <a:defRPr sz="1800" b="1">
                <a:solidFill>
                  <a:srgbClr val="17365D"/>
                </a:solidFill>
                <a:latin typeface="Noto Sans CJK KR"/>
                <a:ea typeface="Noto Sans CJK KR"/>
                <a:cs typeface="Noto Sans CJK KR"/>
              </a:defRPr>
            </a:lvl9pPr>
          </a:lstStyle>
          <a:p xmlns:a="http://schemas.openxmlformats.org/drawingml/2006/main">
            <a:pPr algn="l">
              <a:defRPr sz="1800" b="1">
                <a:solidFill>
                  <a:srgbClr val="17365D"/>
                </a:solidFill>
                <a:latin typeface="Noto Sans CJK KR"/>
                <a:ea typeface="Noto Sans CJK KR"/>
                <a:cs typeface="Noto Sans CJK KR"/>
              </a:defRPr>
            </a:pPr>
            <a:r>
              <a:rPr sz="1800" b="1">
                <a:solidFill>
                  <a:srgbClr val="17365D"/>
                </a:solidFill>
                <a:latin typeface="Noto Sans CJK KR"/>
                <a:ea typeface="Noto Sans CJK KR"/>
                <a:cs typeface="Noto Sans CJK KR"/>
              </a:rPr>
              <a:t>생산계획과 출하 기준</a:t>
            </a:r>
          </a:p>
        </p:txBody>
      </p:sp>
      <p:sp>
        <p:nvSpPr>
          <p:cNvPr id="5" name="factor-evidence-0">
            <a:extLst xmlns:a="http://schemas.openxmlformats.org/drawingml/2006/main">
              <a:ext uri="{FF2B5EF4-FFF2-40B4-BE49-F238E27FC236}">
                <a16:creationId xmlns:a16="http://schemas.microsoft.com/office/drawing/2014/main" id="{B3ADAD1F-9646-4FDA-A886-A8A31F79E3A9}"/>
              </a:ext>
            </a:extLst>
          </p:cNvPr>
          <p:cNvSpPr>
            <a:spLocks xmlns:a="http://schemas.openxmlformats.org/drawingml/2006/main" noGrp="1"/>
          </p:cNvSpPr>
          <p:nvPr/>
        </p:nvSpPr>
        <p:spPr>
          <a:xfrm xmlns:a="http://schemas.openxmlformats.org/drawingml/2006/main">
            <a:off x="5238750" y="1619250"/>
            <a:ext cx="641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544"/>
                </a:solidFill>
                <a:latin typeface="Noto Sans CJK KR"/>
                <a:ea typeface="Noto Sans CJK KR"/>
                <a:cs typeface="Noto Sans CJK KR"/>
              </a:defRPr>
            </a:defPPr>
            <a:lvl1pPr algn="l">
              <a:defRPr sz="1800" b="0">
                <a:solidFill>
                  <a:srgbClr val="263544"/>
                </a:solidFill>
                <a:latin typeface="Noto Sans CJK KR"/>
                <a:ea typeface="Noto Sans CJK KR"/>
                <a:cs typeface="Noto Sans CJK KR"/>
              </a:defRPr>
            </a:lvl1pPr>
            <a:lvl2pPr algn="l">
              <a:defRPr sz="1800" b="0">
                <a:solidFill>
                  <a:srgbClr val="263544"/>
                </a:solidFill>
                <a:latin typeface="Noto Sans CJK KR"/>
                <a:ea typeface="Noto Sans CJK KR"/>
                <a:cs typeface="Noto Sans CJK KR"/>
              </a:defRPr>
            </a:lvl2pPr>
            <a:lvl3pPr algn="l">
              <a:defRPr sz="1800" b="0">
                <a:solidFill>
                  <a:srgbClr val="263544"/>
                </a:solidFill>
                <a:latin typeface="Noto Sans CJK KR"/>
                <a:ea typeface="Noto Sans CJK KR"/>
                <a:cs typeface="Noto Sans CJK KR"/>
              </a:defRPr>
            </a:lvl3pPr>
            <a:lvl4pPr algn="l">
              <a:defRPr sz="1800" b="0">
                <a:solidFill>
                  <a:srgbClr val="263544"/>
                </a:solidFill>
                <a:latin typeface="Noto Sans CJK KR"/>
                <a:ea typeface="Noto Sans CJK KR"/>
                <a:cs typeface="Noto Sans CJK KR"/>
              </a:defRPr>
            </a:lvl4pPr>
            <a:lvl5pPr algn="l">
              <a:defRPr sz="1800" b="0">
                <a:solidFill>
                  <a:srgbClr val="263544"/>
                </a:solidFill>
                <a:latin typeface="Noto Sans CJK KR"/>
                <a:ea typeface="Noto Sans CJK KR"/>
                <a:cs typeface="Noto Sans CJK KR"/>
              </a:defRPr>
            </a:lvl5pPr>
            <a:lvl6pPr algn="l">
              <a:defRPr sz="1800" b="0">
                <a:solidFill>
                  <a:srgbClr val="263544"/>
                </a:solidFill>
                <a:latin typeface="Noto Sans CJK KR"/>
                <a:ea typeface="Noto Sans CJK KR"/>
                <a:cs typeface="Noto Sans CJK KR"/>
              </a:defRPr>
            </a:lvl6pPr>
            <a:lvl7pPr algn="l">
              <a:defRPr sz="1800" b="0">
                <a:solidFill>
                  <a:srgbClr val="263544"/>
                </a:solidFill>
                <a:latin typeface="Noto Sans CJK KR"/>
                <a:ea typeface="Noto Sans CJK KR"/>
                <a:cs typeface="Noto Sans CJK KR"/>
              </a:defRPr>
            </a:lvl7pPr>
            <a:lvl8pPr algn="l">
              <a:defRPr sz="1800" b="0">
                <a:solidFill>
                  <a:srgbClr val="263544"/>
                </a:solidFill>
                <a:latin typeface="Noto Sans CJK KR"/>
                <a:ea typeface="Noto Sans CJK KR"/>
                <a:cs typeface="Noto Sans CJK KR"/>
              </a:defRPr>
            </a:lvl8pPr>
            <a:lvl9pPr algn="l">
              <a:defRPr sz="1800" b="0">
                <a:solidFill>
                  <a:srgbClr val="263544"/>
                </a:solidFill>
                <a:latin typeface="Noto Sans CJK KR"/>
                <a:ea typeface="Noto Sans CJK KR"/>
                <a:cs typeface="Noto Sans CJK KR"/>
              </a:defRPr>
            </a:lvl9pPr>
          </a:lstStyle>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완주·옥천: 기획생산과 인증·출하 관리</a:t>
            </a:r>
          </a:p>
        </p:txBody>
      </p:sp>
      <p:sp>
        <p:nvSpPr>
          <p:cNvPr id="6" name="factor-inference-0">
            <a:extLst xmlns:a="http://schemas.openxmlformats.org/drawingml/2006/main">
              <a:ext uri="{FF2B5EF4-FFF2-40B4-BE49-F238E27FC236}">
                <a16:creationId xmlns:a16="http://schemas.microsoft.com/office/drawing/2014/main" id="{7267FA07-1D93-4805-8D6B-17D50D91E42E}"/>
              </a:ext>
            </a:extLst>
          </p:cNvPr>
          <p:cNvSpPr>
            <a:spLocks xmlns:a="http://schemas.openxmlformats.org/drawingml/2006/main" noGrp="1"/>
          </p:cNvSpPr>
          <p:nvPr/>
        </p:nvSpPr>
        <p:spPr>
          <a:xfrm xmlns:a="http://schemas.openxmlformats.org/drawingml/2006/main">
            <a:off x="1314450" y="2019300"/>
            <a:ext cx="10344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추정: 공급과 품질을 안정적으로 관리하는 데 기여 가능</a:t>
            </a:r>
          </a:p>
        </p:txBody>
      </p:sp>
      <p:sp>
        <p:nvSpPr>
          <p:cNvPr id="7" name="factor-no-1">
            <a:extLst xmlns:a="http://schemas.openxmlformats.org/drawingml/2006/main">
              <a:ext uri="{FF2B5EF4-FFF2-40B4-BE49-F238E27FC236}">
                <a16:creationId xmlns:a16="http://schemas.microsoft.com/office/drawing/2014/main" id="{421275D8-D782-49B8-819C-80E508A8A4A7}"/>
              </a:ext>
            </a:extLst>
          </p:cNvPr>
          <p:cNvSpPr>
            <a:spLocks xmlns:a="http://schemas.openxmlformats.org/drawingml/2006/main" noGrp="1"/>
          </p:cNvSpPr>
          <p:nvPr/>
        </p:nvSpPr>
        <p:spPr>
          <a:xfrm xmlns:a="http://schemas.openxmlformats.org/drawingml/2006/main">
            <a:off x="533400" y="26479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02</a:t>
            </a:r>
          </a:p>
        </p:txBody>
      </p:sp>
      <p:sp>
        <p:nvSpPr>
          <p:cNvPr id="8" name="factor-title-1">
            <a:extLst xmlns:a="http://schemas.openxmlformats.org/drawingml/2006/main">
              <a:ext uri="{FF2B5EF4-FFF2-40B4-BE49-F238E27FC236}">
                <a16:creationId xmlns:a16="http://schemas.microsoft.com/office/drawing/2014/main" id="{CF83F84D-DE7E-40E9-9DCB-414EB476BA85}"/>
              </a:ext>
            </a:extLst>
          </p:cNvPr>
          <p:cNvSpPr>
            <a:spLocks xmlns:a="http://schemas.openxmlformats.org/drawingml/2006/main" noGrp="1"/>
          </p:cNvSpPr>
          <p:nvPr/>
        </p:nvSpPr>
        <p:spPr>
          <a:xfrm xmlns:a="http://schemas.openxmlformats.org/drawingml/2006/main">
            <a:off x="1314450" y="26479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5D"/>
                </a:solidFill>
                <a:latin typeface="Noto Sans CJK KR"/>
                <a:ea typeface="Noto Sans CJK KR"/>
                <a:cs typeface="Noto Sans CJK KR"/>
              </a:defRPr>
            </a:defPPr>
            <a:lvl1pPr algn="l">
              <a:defRPr sz="1800" b="1">
                <a:solidFill>
                  <a:srgbClr val="17365D"/>
                </a:solidFill>
                <a:latin typeface="Noto Sans CJK KR"/>
                <a:ea typeface="Noto Sans CJK KR"/>
                <a:cs typeface="Noto Sans CJK KR"/>
              </a:defRPr>
            </a:lvl1pPr>
            <a:lvl2pPr algn="l">
              <a:defRPr sz="1800" b="1">
                <a:solidFill>
                  <a:srgbClr val="17365D"/>
                </a:solidFill>
                <a:latin typeface="Noto Sans CJK KR"/>
                <a:ea typeface="Noto Sans CJK KR"/>
                <a:cs typeface="Noto Sans CJK KR"/>
              </a:defRPr>
            </a:lvl2pPr>
            <a:lvl3pPr algn="l">
              <a:defRPr sz="1800" b="1">
                <a:solidFill>
                  <a:srgbClr val="17365D"/>
                </a:solidFill>
                <a:latin typeface="Noto Sans CJK KR"/>
                <a:ea typeface="Noto Sans CJK KR"/>
                <a:cs typeface="Noto Sans CJK KR"/>
              </a:defRPr>
            </a:lvl3pPr>
            <a:lvl4pPr algn="l">
              <a:defRPr sz="1800" b="1">
                <a:solidFill>
                  <a:srgbClr val="17365D"/>
                </a:solidFill>
                <a:latin typeface="Noto Sans CJK KR"/>
                <a:ea typeface="Noto Sans CJK KR"/>
                <a:cs typeface="Noto Sans CJK KR"/>
              </a:defRPr>
            </a:lvl4pPr>
            <a:lvl5pPr algn="l">
              <a:defRPr sz="1800" b="1">
                <a:solidFill>
                  <a:srgbClr val="17365D"/>
                </a:solidFill>
                <a:latin typeface="Noto Sans CJK KR"/>
                <a:ea typeface="Noto Sans CJK KR"/>
                <a:cs typeface="Noto Sans CJK KR"/>
              </a:defRPr>
            </a:lvl5pPr>
            <a:lvl6pPr algn="l">
              <a:defRPr sz="1800" b="1">
                <a:solidFill>
                  <a:srgbClr val="17365D"/>
                </a:solidFill>
                <a:latin typeface="Noto Sans CJK KR"/>
                <a:ea typeface="Noto Sans CJK KR"/>
                <a:cs typeface="Noto Sans CJK KR"/>
              </a:defRPr>
            </a:lvl6pPr>
            <a:lvl7pPr algn="l">
              <a:defRPr sz="1800" b="1">
                <a:solidFill>
                  <a:srgbClr val="17365D"/>
                </a:solidFill>
                <a:latin typeface="Noto Sans CJK KR"/>
                <a:ea typeface="Noto Sans CJK KR"/>
                <a:cs typeface="Noto Sans CJK KR"/>
              </a:defRPr>
            </a:lvl7pPr>
            <a:lvl8pPr algn="l">
              <a:defRPr sz="1800" b="1">
                <a:solidFill>
                  <a:srgbClr val="17365D"/>
                </a:solidFill>
                <a:latin typeface="Noto Sans CJK KR"/>
                <a:ea typeface="Noto Sans CJK KR"/>
                <a:cs typeface="Noto Sans CJK KR"/>
              </a:defRPr>
            </a:lvl8pPr>
            <a:lvl9pPr algn="l">
              <a:defRPr sz="1800" b="1">
                <a:solidFill>
                  <a:srgbClr val="17365D"/>
                </a:solidFill>
                <a:latin typeface="Noto Sans CJK KR"/>
                <a:ea typeface="Noto Sans CJK KR"/>
                <a:cs typeface="Noto Sans CJK KR"/>
              </a:defRPr>
            </a:lvl9pPr>
          </a:lstStyle>
          <a:p xmlns:a="http://schemas.openxmlformats.org/drawingml/2006/main">
            <a:pPr algn="l">
              <a:defRPr sz="1800" b="1">
                <a:solidFill>
                  <a:srgbClr val="17365D"/>
                </a:solidFill>
                <a:latin typeface="Noto Sans CJK KR"/>
                <a:ea typeface="Noto Sans CJK KR"/>
                <a:cs typeface="Noto Sans CJK KR"/>
              </a:defRPr>
            </a:pPr>
            <a:r>
              <a:rPr sz="1800" b="1">
                <a:solidFill>
                  <a:srgbClr val="17365D"/>
                </a:solidFill>
                <a:latin typeface="Noto Sans CJK KR"/>
                <a:ea typeface="Noto Sans CJK KR"/>
                <a:cs typeface="Noto Sans CJK KR"/>
              </a:rPr>
              <a:t>판매·정산정보 공유</a:t>
            </a:r>
          </a:p>
        </p:txBody>
      </p:sp>
      <p:sp>
        <p:nvSpPr>
          <p:cNvPr id="9" name="factor-evidence-1">
            <a:extLst xmlns:a="http://schemas.openxmlformats.org/drawingml/2006/main">
              <a:ext uri="{FF2B5EF4-FFF2-40B4-BE49-F238E27FC236}">
                <a16:creationId xmlns:a16="http://schemas.microsoft.com/office/drawing/2014/main" id="{D58674E0-E2BE-416B-9F47-BBD79BC56586}"/>
              </a:ext>
            </a:extLst>
          </p:cNvPr>
          <p:cNvSpPr>
            <a:spLocks xmlns:a="http://schemas.openxmlformats.org/drawingml/2006/main" noGrp="1"/>
          </p:cNvSpPr>
          <p:nvPr/>
        </p:nvSpPr>
        <p:spPr>
          <a:xfrm xmlns:a="http://schemas.openxmlformats.org/drawingml/2006/main">
            <a:off x="5238750" y="2647950"/>
            <a:ext cx="641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544"/>
                </a:solidFill>
                <a:latin typeface="Noto Sans CJK KR"/>
                <a:ea typeface="Noto Sans CJK KR"/>
                <a:cs typeface="Noto Sans CJK KR"/>
              </a:defRPr>
            </a:defPPr>
            <a:lvl1pPr algn="l">
              <a:defRPr sz="1800" b="0">
                <a:solidFill>
                  <a:srgbClr val="263544"/>
                </a:solidFill>
                <a:latin typeface="Noto Sans CJK KR"/>
                <a:ea typeface="Noto Sans CJK KR"/>
                <a:cs typeface="Noto Sans CJK KR"/>
              </a:defRPr>
            </a:lvl1pPr>
            <a:lvl2pPr algn="l">
              <a:defRPr sz="1800" b="0">
                <a:solidFill>
                  <a:srgbClr val="263544"/>
                </a:solidFill>
                <a:latin typeface="Noto Sans CJK KR"/>
                <a:ea typeface="Noto Sans CJK KR"/>
                <a:cs typeface="Noto Sans CJK KR"/>
              </a:defRPr>
            </a:lvl2pPr>
            <a:lvl3pPr algn="l">
              <a:defRPr sz="1800" b="0">
                <a:solidFill>
                  <a:srgbClr val="263544"/>
                </a:solidFill>
                <a:latin typeface="Noto Sans CJK KR"/>
                <a:ea typeface="Noto Sans CJK KR"/>
                <a:cs typeface="Noto Sans CJK KR"/>
              </a:defRPr>
            </a:lvl3pPr>
            <a:lvl4pPr algn="l">
              <a:defRPr sz="1800" b="0">
                <a:solidFill>
                  <a:srgbClr val="263544"/>
                </a:solidFill>
                <a:latin typeface="Noto Sans CJK KR"/>
                <a:ea typeface="Noto Sans CJK KR"/>
                <a:cs typeface="Noto Sans CJK KR"/>
              </a:defRPr>
            </a:lvl4pPr>
            <a:lvl5pPr algn="l">
              <a:defRPr sz="1800" b="0">
                <a:solidFill>
                  <a:srgbClr val="263544"/>
                </a:solidFill>
                <a:latin typeface="Noto Sans CJK KR"/>
                <a:ea typeface="Noto Sans CJK KR"/>
                <a:cs typeface="Noto Sans CJK KR"/>
              </a:defRPr>
            </a:lvl5pPr>
            <a:lvl6pPr algn="l">
              <a:defRPr sz="1800" b="0">
                <a:solidFill>
                  <a:srgbClr val="263544"/>
                </a:solidFill>
                <a:latin typeface="Noto Sans CJK KR"/>
                <a:ea typeface="Noto Sans CJK KR"/>
                <a:cs typeface="Noto Sans CJK KR"/>
              </a:defRPr>
            </a:lvl6pPr>
            <a:lvl7pPr algn="l">
              <a:defRPr sz="1800" b="0">
                <a:solidFill>
                  <a:srgbClr val="263544"/>
                </a:solidFill>
                <a:latin typeface="Noto Sans CJK KR"/>
                <a:ea typeface="Noto Sans CJK KR"/>
                <a:cs typeface="Noto Sans CJK KR"/>
              </a:defRPr>
            </a:lvl7pPr>
            <a:lvl8pPr algn="l">
              <a:defRPr sz="1800" b="0">
                <a:solidFill>
                  <a:srgbClr val="263544"/>
                </a:solidFill>
                <a:latin typeface="Noto Sans CJK KR"/>
                <a:ea typeface="Noto Sans CJK KR"/>
                <a:cs typeface="Noto Sans CJK KR"/>
              </a:defRPr>
            </a:lvl8pPr>
            <a:lvl9pPr algn="l">
              <a:defRPr sz="1800" b="0">
                <a:solidFill>
                  <a:srgbClr val="263544"/>
                </a:solidFill>
                <a:latin typeface="Noto Sans CJK KR"/>
                <a:ea typeface="Noto Sans CJK KR"/>
                <a:cs typeface="Noto Sans CJK KR"/>
              </a:defRPr>
            </a:lvl9pPr>
          </a:lstStyle>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품앗이마을: 생산자 앱에서 판매·정산 확인</a:t>
            </a:r>
          </a:p>
        </p:txBody>
      </p:sp>
      <p:sp>
        <p:nvSpPr>
          <p:cNvPr id="10" name="factor-inference-1">
            <a:extLst xmlns:a="http://schemas.openxmlformats.org/drawingml/2006/main">
              <a:ext uri="{FF2B5EF4-FFF2-40B4-BE49-F238E27FC236}">
                <a16:creationId xmlns:a16="http://schemas.microsoft.com/office/drawing/2014/main" id="{2B711225-0775-4F03-BC2A-A1823B025652}"/>
              </a:ext>
            </a:extLst>
          </p:cNvPr>
          <p:cNvSpPr>
            <a:spLocks xmlns:a="http://schemas.openxmlformats.org/drawingml/2006/main" noGrp="1"/>
          </p:cNvSpPr>
          <p:nvPr/>
        </p:nvSpPr>
        <p:spPr>
          <a:xfrm xmlns:a="http://schemas.openxmlformats.org/drawingml/2006/main">
            <a:off x="1314450" y="3048000"/>
            <a:ext cx="10344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추정: 다음 출하량을 조절하고 정산 문의를 줄이는 데 기여 가능</a:t>
            </a:r>
          </a:p>
        </p:txBody>
      </p:sp>
      <p:sp>
        <p:nvSpPr>
          <p:cNvPr id="11" name="factor-no-2">
            <a:extLst xmlns:a="http://schemas.openxmlformats.org/drawingml/2006/main">
              <a:ext uri="{FF2B5EF4-FFF2-40B4-BE49-F238E27FC236}">
                <a16:creationId xmlns:a16="http://schemas.microsoft.com/office/drawing/2014/main" id="{D89BF6F3-368B-4CEB-950C-A3E24D5AACA8}"/>
              </a:ext>
            </a:extLst>
          </p:cNvPr>
          <p:cNvSpPr>
            <a:spLocks xmlns:a="http://schemas.openxmlformats.org/drawingml/2006/main" noGrp="1"/>
          </p:cNvSpPr>
          <p:nvPr/>
        </p:nvSpPr>
        <p:spPr>
          <a:xfrm xmlns:a="http://schemas.openxmlformats.org/drawingml/2006/main">
            <a:off x="533400" y="36766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03</a:t>
            </a:r>
          </a:p>
        </p:txBody>
      </p:sp>
      <p:sp>
        <p:nvSpPr>
          <p:cNvPr id="12" name="factor-title-2">
            <a:extLst xmlns:a="http://schemas.openxmlformats.org/drawingml/2006/main">
              <a:ext uri="{FF2B5EF4-FFF2-40B4-BE49-F238E27FC236}">
                <a16:creationId xmlns:a16="http://schemas.microsoft.com/office/drawing/2014/main" id="{7FC94F84-F9B6-42EE-917E-EA036AD4A9A1}"/>
              </a:ext>
            </a:extLst>
          </p:cNvPr>
          <p:cNvSpPr>
            <a:spLocks xmlns:a="http://schemas.openxmlformats.org/drawingml/2006/main" noGrp="1"/>
          </p:cNvSpPr>
          <p:nvPr/>
        </p:nvSpPr>
        <p:spPr>
          <a:xfrm xmlns:a="http://schemas.openxmlformats.org/drawingml/2006/main">
            <a:off x="1314450" y="3676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5D"/>
                </a:solidFill>
                <a:latin typeface="Noto Sans CJK KR"/>
                <a:ea typeface="Noto Sans CJK KR"/>
                <a:cs typeface="Noto Sans CJK KR"/>
              </a:defRPr>
            </a:defPPr>
            <a:lvl1pPr algn="l">
              <a:defRPr sz="1800" b="1">
                <a:solidFill>
                  <a:srgbClr val="17365D"/>
                </a:solidFill>
                <a:latin typeface="Noto Sans CJK KR"/>
                <a:ea typeface="Noto Sans CJK KR"/>
                <a:cs typeface="Noto Sans CJK KR"/>
              </a:defRPr>
            </a:lvl1pPr>
            <a:lvl2pPr algn="l">
              <a:defRPr sz="1800" b="1">
                <a:solidFill>
                  <a:srgbClr val="17365D"/>
                </a:solidFill>
                <a:latin typeface="Noto Sans CJK KR"/>
                <a:ea typeface="Noto Sans CJK KR"/>
                <a:cs typeface="Noto Sans CJK KR"/>
              </a:defRPr>
            </a:lvl2pPr>
            <a:lvl3pPr algn="l">
              <a:defRPr sz="1800" b="1">
                <a:solidFill>
                  <a:srgbClr val="17365D"/>
                </a:solidFill>
                <a:latin typeface="Noto Sans CJK KR"/>
                <a:ea typeface="Noto Sans CJK KR"/>
                <a:cs typeface="Noto Sans CJK KR"/>
              </a:defRPr>
            </a:lvl3pPr>
            <a:lvl4pPr algn="l">
              <a:defRPr sz="1800" b="1">
                <a:solidFill>
                  <a:srgbClr val="17365D"/>
                </a:solidFill>
                <a:latin typeface="Noto Sans CJK KR"/>
                <a:ea typeface="Noto Sans CJK KR"/>
                <a:cs typeface="Noto Sans CJK KR"/>
              </a:defRPr>
            </a:lvl4pPr>
            <a:lvl5pPr algn="l">
              <a:defRPr sz="1800" b="1">
                <a:solidFill>
                  <a:srgbClr val="17365D"/>
                </a:solidFill>
                <a:latin typeface="Noto Sans CJK KR"/>
                <a:ea typeface="Noto Sans CJK KR"/>
                <a:cs typeface="Noto Sans CJK KR"/>
              </a:defRPr>
            </a:lvl5pPr>
            <a:lvl6pPr algn="l">
              <a:defRPr sz="1800" b="1">
                <a:solidFill>
                  <a:srgbClr val="17365D"/>
                </a:solidFill>
                <a:latin typeface="Noto Sans CJK KR"/>
                <a:ea typeface="Noto Sans CJK KR"/>
                <a:cs typeface="Noto Sans CJK KR"/>
              </a:defRPr>
            </a:lvl6pPr>
            <a:lvl7pPr algn="l">
              <a:defRPr sz="1800" b="1">
                <a:solidFill>
                  <a:srgbClr val="17365D"/>
                </a:solidFill>
                <a:latin typeface="Noto Sans CJK KR"/>
                <a:ea typeface="Noto Sans CJK KR"/>
                <a:cs typeface="Noto Sans CJK KR"/>
              </a:defRPr>
            </a:lvl7pPr>
            <a:lvl8pPr algn="l">
              <a:defRPr sz="1800" b="1">
                <a:solidFill>
                  <a:srgbClr val="17365D"/>
                </a:solidFill>
                <a:latin typeface="Noto Sans CJK KR"/>
                <a:ea typeface="Noto Sans CJK KR"/>
                <a:cs typeface="Noto Sans CJK KR"/>
              </a:defRPr>
            </a:lvl8pPr>
            <a:lvl9pPr algn="l">
              <a:defRPr sz="1800" b="1">
                <a:solidFill>
                  <a:srgbClr val="17365D"/>
                </a:solidFill>
                <a:latin typeface="Noto Sans CJK KR"/>
                <a:ea typeface="Noto Sans CJK KR"/>
                <a:cs typeface="Noto Sans CJK KR"/>
              </a:defRPr>
            </a:lvl9pPr>
          </a:lstStyle>
          <a:p xmlns:a="http://schemas.openxmlformats.org/drawingml/2006/main">
            <a:pPr algn="l">
              <a:defRPr sz="1800" b="1">
                <a:solidFill>
                  <a:srgbClr val="17365D"/>
                </a:solidFill>
                <a:latin typeface="Noto Sans CJK KR"/>
                <a:ea typeface="Noto Sans CJK KR"/>
                <a:cs typeface="Noto Sans CJK KR"/>
              </a:defRPr>
            </a:pPr>
            <a:r>
              <a:rPr sz="1800" b="1">
                <a:solidFill>
                  <a:srgbClr val="17365D"/>
                </a:solidFill>
                <a:latin typeface="Noto Sans CJK KR"/>
                <a:ea typeface="Noto Sans CJK KR"/>
                <a:cs typeface="Noto Sans CJK KR"/>
              </a:rPr>
              <a:t>판매채널과 선주문 연계</a:t>
            </a:r>
          </a:p>
        </p:txBody>
      </p:sp>
      <p:sp>
        <p:nvSpPr>
          <p:cNvPr id="13" name="factor-evidence-2">
            <a:extLst xmlns:a="http://schemas.openxmlformats.org/drawingml/2006/main">
              <a:ext uri="{FF2B5EF4-FFF2-40B4-BE49-F238E27FC236}">
                <a16:creationId xmlns:a16="http://schemas.microsoft.com/office/drawing/2014/main" id="{60ACD915-F502-42A8-8B38-E8C5A181311B}"/>
              </a:ext>
            </a:extLst>
          </p:cNvPr>
          <p:cNvSpPr>
            <a:spLocks xmlns:a="http://schemas.openxmlformats.org/drawingml/2006/main" noGrp="1"/>
          </p:cNvSpPr>
          <p:nvPr/>
        </p:nvSpPr>
        <p:spPr>
          <a:xfrm xmlns:a="http://schemas.openxmlformats.org/drawingml/2006/main">
            <a:off x="5238750" y="3676650"/>
            <a:ext cx="641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544"/>
                </a:solidFill>
                <a:latin typeface="Noto Sans CJK KR"/>
                <a:ea typeface="Noto Sans CJK KR"/>
                <a:cs typeface="Noto Sans CJK KR"/>
              </a:defRPr>
            </a:defPPr>
            <a:lvl1pPr algn="l">
              <a:defRPr sz="1800" b="0">
                <a:solidFill>
                  <a:srgbClr val="263544"/>
                </a:solidFill>
                <a:latin typeface="Noto Sans CJK KR"/>
                <a:ea typeface="Noto Sans CJK KR"/>
                <a:cs typeface="Noto Sans CJK KR"/>
              </a:defRPr>
            </a:lvl1pPr>
            <a:lvl2pPr algn="l">
              <a:defRPr sz="1800" b="0">
                <a:solidFill>
                  <a:srgbClr val="263544"/>
                </a:solidFill>
                <a:latin typeface="Noto Sans CJK KR"/>
                <a:ea typeface="Noto Sans CJK KR"/>
                <a:cs typeface="Noto Sans CJK KR"/>
              </a:defRPr>
            </a:lvl2pPr>
            <a:lvl3pPr algn="l">
              <a:defRPr sz="1800" b="0">
                <a:solidFill>
                  <a:srgbClr val="263544"/>
                </a:solidFill>
                <a:latin typeface="Noto Sans CJK KR"/>
                <a:ea typeface="Noto Sans CJK KR"/>
                <a:cs typeface="Noto Sans CJK KR"/>
              </a:defRPr>
            </a:lvl3pPr>
            <a:lvl4pPr algn="l">
              <a:defRPr sz="1800" b="0">
                <a:solidFill>
                  <a:srgbClr val="263544"/>
                </a:solidFill>
                <a:latin typeface="Noto Sans CJK KR"/>
                <a:ea typeface="Noto Sans CJK KR"/>
                <a:cs typeface="Noto Sans CJK KR"/>
              </a:defRPr>
            </a:lvl4pPr>
            <a:lvl5pPr algn="l">
              <a:defRPr sz="1800" b="0">
                <a:solidFill>
                  <a:srgbClr val="263544"/>
                </a:solidFill>
                <a:latin typeface="Noto Sans CJK KR"/>
                <a:ea typeface="Noto Sans CJK KR"/>
                <a:cs typeface="Noto Sans CJK KR"/>
              </a:defRPr>
            </a:lvl5pPr>
            <a:lvl6pPr algn="l">
              <a:defRPr sz="1800" b="0">
                <a:solidFill>
                  <a:srgbClr val="263544"/>
                </a:solidFill>
                <a:latin typeface="Noto Sans CJK KR"/>
                <a:ea typeface="Noto Sans CJK KR"/>
                <a:cs typeface="Noto Sans CJK KR"/>
              </a:defRPr>
            </a:lvl6pPr>
            <a:lvl7pPr algn="l">
              <a:defRPr sz="1800" b="0">
                <a:solidFill>
                  <a:srgbClr val="263544"/>
                </a:solidFill>
                <a:latin typeface="Noto Sans CJK KR"/>
                <a:ea typeface="Noto Sans CJK KR"/>
                <a:cs typeface="Noto Sans CJK KR"/>
              </a:defRPr>
            </a:lvl7pPr>
            <a:lvl8pPr algn="l">
              <a:defRPr sz="1800" b="0">
                <a:solidFill>
                  <a:srgbClr val="263544"/>
                </a:solidFill>
                <a:latin typeface="Noto Sans CJK KR"/>
                <a:ea typeface="Noto Sans CJK KR"/>
                <a:cs typeface="Noto Sans CJK KR"/>
              </a:defRPr>
            </a:lvl8pPr>
            <a:lvl9pPr algn="l">
              <a:defRPr sz="1800" b="0">
                <a:solidFill>
                  <a:srgbClr val="263544"/>
                </a:solidFill>
                <a:latin typeface="Noto Sans CJK KR"/>
                <a:ea typeface="Noto Sans CJK KR"/>
                <a:cs typeface="Noto Sans CJK KR"/>
              </a:defRPr>
            </a:lvl9pPr>
          </a:lstStyle>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언니네텃밭: 꾸러미·온라인 장터 병행</a:t>
            </a:r>
          </a:p>
        </p:txBody>
      </p:sp>
      <p:sp>
        <p:nvSpPr>
          <p:cNvPr id="14" name="factor-inference-2">
            <a:extLst xmlns:a="http://schemas.openxmlformats.org/drawingml/2006/main">
              <a:ext uri="{FF2B5EF4-FFF2-40B4-BE49-F238E27FC236}">
                <a16:creationId xmlns:a16="http://schemas.microsoft.com/office/drawing/2014/main" id="{A7214F4E-6C0E-4635-91EE-B5B5899CFAD6}"/>
              </a:ext>
            </a:extLst>
          </p:cNvPr>
          <p:cNvSpPr>
            <a:spLocks xmlns:a="http://schemas.openxmlformats.org/drawingml/2006/main" noGrp="1"/>
          </p:cNvSpPr>
          <p:nvPr/>
        </p:nvSpPr>
        <p:spPr>
          <a:xfrm xmlns:a="http://schemas.openxmlformats.org/drawingml/2006/main">
            <a:off x="1314450" y="4076700"/>
            <a:ext cx="10344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추정: 사전 수요를 파악하고 생산계획을 세우는 데 기여 가능</a:t>
            </a:r>
          </a:p>
        </p:txBody>
      </p:sp>
      <p:sp>
        <p:nvSpPr>
          <p:cNvPr id="15" name="factor-no-3">
            <a:extLst xmlns:a="http://schemas.openxmlformats.org/drawingml/2006/main">
              <a:ext uri="{FF2B5EF4-FFF2-40B4-BE49-F238E27FC236}">
                <a16:creationId xmlns:a16="http://schemas.microsoft.com/office/drawing/2014/main" id="{4D5B989F-C919-478C-90A5-D0D97DCC3552}"/>
              </a:ext>
            </a:extLst>
          </p:cNvPr>
          <p:cNvSpPr>
            <a:spLocks xmlns:a="http://schemas.openxmlformats.org/drawingml/2006/main" noGrp="1"/>
          </p:cNvSpPr>
          <p:nvPr/>
        </p:nvSpPr>
        <p:spPr>
          <a:xfrm xmlns:a="http://schemas.openxmlformats.org/drawingml/2006/main">
            <a:off x="533400" y="4705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04</a:t>
            </a:r>
          </a:p>
        </p:txBody>
      </p:sp>
      <p:sp>
        <p:nvSpPr>
          <p:cNvPr id="16" name="factor-title-3">
            <a:extLst xmlns:a="http://schemas.openxmlformats.org/drawingml/2006/main">
              <a:ext uri="{FF2B5EF4-FFF2-40B4-BE49-F238E27FC236}">
                <a16:creationId xmlns:a16="http://schemas.microsoft.com/office/drawing/2014/main" id="{930A1411-063D-4738-9503-CC56B55F9F30}"/>
              </a:ext>
            </a:extLst>
          </p:cNvPr>
          <p:cNvSpPr>
            <a:spLocks xmlns:a="http://schemas.openxmlformats.org/drawingml/2006/main" noGrp="1"/>
          </p:cNvSpPr>
          <p:nvPr/>
        </p:nvSpPr>
        <p:spPr>
          <a:xfrm xmlns:a="http://schemas.openxmlformats.org/drawingml/2006/main">
            <a:off x="1314450" y="47053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5D"/>
                </a:solidFill>
                <a:latin typeface="Noto Sans CJK KR"/>
                <a:ea typeface="Noto Sans CJK KR"/>
                <a:cs typeface="Noto Sans CJK KR"/>
              </a:defRPr>
            </a:defPPr>
            <a:lvl1pPr algn="l">
              <a:defRPr sz="1800" b="1">
                <a:solidFill>
                  <a:srgbClr val="17365D"/>
                </a:solidFill>
                <a:latin typeface="Noto Sans CJK KR"/>
                <a:ea typeface="Noto Sans CJK KR"/>
                <a:cs typeface="Noto Sans CJK KR"/>
              </a:defRPr>
            </a:lvl1pPr>
            <a:lvl2pPr algn="l">
              <a:defRPr sz="1800" b="1">
                <a:solidFill>
                  <a:srgbClr val="17365D"/>
                </a:solidFill>
                <a:latin typeface="Noto Sans CJK KR"/>
                <a:ea typeface="Noto Sans CJK KR"/>
                <a:cs typeface="Noto Sans CJK KR"/>
              </a:defRPr>
            </a:lvl2pPr>
            <a:lvl3pPr algn="l">
              <a:defRPr sz="1800" b="1">
                <a:solidFill>
                  <a:srgbClr val="17365D"/>
                </a:solidFill>
                <a:latin typeface="Noto Sans CJK KR"/>
                <a:ea typeface="Noto Sans CJK KR"/>
                <a:cs typeface="Noto Sans CJK KR"/>
              </a:defRPr>
            </a:lvl3pPr>
            <a:lvl4pPr algn="l">
              <a:defRPr sz="1800" b="1">
                <a:solidFill>
                  <a:srgbClr val="17365D"/>
                </a:solidFill>
                <a:latin typeface="Noto Sans CJK KR"/>
                <a:ea typeface="Noto Sans CJK KR"/>
                <a:cs typeface="Noto Sans CJK KR"/>
              </a:defRPr>
            </a:lvl4pPr>
            <a:lvl5pPr algn="l">
              <a:defRPr sz="1800" b="1">
                <a:solidFill>
                  <a:srgbClr val="17365D"/>
                </a:solidFill>
                <a:latin typeface="Noto Sans CJK KR"/>
                <a:ea typeface="Noto Sans CJK KR"/>
                <a:cs typeface="Noto Sans CJK KR"/>
              </a:defRPr>
            </a:lvl5pPr>
            <a:lvl6pPr algn="l">
              <a:defRPr sz="1800" b="1">
                <a:solidFill>
                  <a:srgbClr val="17365D"/>
                </a:solidFill>
                <a:latin typeface="Noto Sans CJK KR"/>
                <a:ea typeface="Noto Sans CJK KR"/>
                <a:cs typeface="Noto Sans CJK KR"/>
              </a:defRPr>
            </a:lvl6pPr>
            <a:lvl7pPr algn="l">
              <a:defRPr sz="1800" b="1">
                <a:solidFill>
                  <a:srgbClr val="17365D"/>
                </a:solidFill>
                <a:latin typeface="Noto Sans CJK KR"/>
                <a:ea typeface="Noto Sans CJK KR"/>
                <a:cs typeface="Noto Sans CJK KR"/>
              </a:defRPr>
            </a:lvl7pPr>
            <a:lvl8pPr algn="l">
              <a:defRPr sz="1800" b="1">
                <a:solidFill>
                  <a:srgbClr val="17365D"/>
                </a:solidFill>
                <a:latin typeface="Noto Sans CJK KR"/>
                <a:ea typeface="Noto Sans CJK KR"/>
                <a:cs typeface="Noto Sans CJK KR"/>
              </a:defRPr>
            </a:lvl8pPr>
            <a:lvl9pPr algn="l">
              <a:defRPr sz="1800" b="1">
                <a:solidFill>
                  <a:srgbClr val="17365D"/>
                </a:solidFill>
                <a:latin typeface="Noto Sans CJK KR"/>
                <a:ea typeface="Noto Sans CJK KR"/>
                <a:cs typeface="Noto Sans CJK KR"/>
              </a:defRPr>
            </a:lvl9pPr>
          </a:lstStyle>
          <a:p xmlns:a="http://schemas.openxmlformats.org/drawingml/2006/main">
            <a:pPr algn="l">
              <a:defRPr sz="1800" b="1">
                <a:solidFill>
                  <a:srgbClr val="17365D"/>
                </a:solidFill>
                <a:latin typeface="Noto Sans CJK KR"/>
                <a:ea typeface="Noto Sans CJK KR"/>
                <a:cs typeface="Noto Sans CJK KR"/>
              </a:defRPr>
            </a:pPr>
            <a:r>
              <a:rPr sz="1800" b="1">
                <a:solidFill>
                  <a:srgbClr val="17365D"/>
                </a:solidFill>
                <a:latin typeface="Noto Sans CJK KR"/>
                <a:ea typeface="Noto Sans CJK KR"/>
                <a:cs typeface="Noto Sans CJK KR"/>
              </a:rPr>
              <a:t>생산자와 소비자의 교류</a:t>
            </a:r>
          </a:p>
        </p:txBody>
      </p:sp>
      <p:sp>
        <p:nvSpPr>
          <p:cNvPr id="17" name="factor-evidence-3">
            <a:extLst xmlns:a="http://schemas.openxmlformats.org/drawingml/2006/main">
              <a:ext uri="{FF2B5EF4-FFF2-40B4-BE49-F238E27FC236}">
                <a16:creationId xmlns:a16="http://schemas.microsoft.com/office/drawing/2014/main" id="{0C2EDA35-8EAD-4FD6-BB30-C58BA5651D1F}"/>
              </a:ext>
            </a:extLst>
          </p:cNvPr>
          <p:cNvSpPr>
            <a:spLocks xmlns:a="http://schemas.openxmlformats.org/drawingml/2006/main" noGrp="1"/>
          </p:cNvSpPr>
          <p:nvPr/>
        </p:nvSpPr>
        <p:spPr>
          <a:xfrm xmlns:a="http://schemas.openxmlformats.org/drawingml/2006/main">
            <a:off x="5238750" y="4705350"/>
            <a:ext cx="6419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544"/>
                </a:solidFill>
                <a:latin typeface="Noto Sans CJK KR"/>
                <a:ea typeface="Noto Sans CJK KR"/>
                <a:cs typeface="Noto Sans CJK KR"/>
              </a:defRPr>
            </a:defPPr>
            <a:lvl1pPr algn="l">
              <a:defRPr sz="1800" b="0">
                <a:solidFill>
                  <a:srgbClr val="263544"/>
                </a:solidFill>
                <a:latin typeface="Noto Sans CJK KR"/>
                <a:ea typeface="Noto Sans CJK KR"/>
                <a:cs typeface="Noto Sans CJK KR"/>
              </a:defRPr>
            </a:lvl1pPr>
            <a:lvl2pPr algn="l">
              <a:defRPr sz="1800" b="0">
                <a:solidFill>
                  <a:srgbClr val="263544"/>
                </a:solidFill>
                <a:latin typeface="Noto Sans CJK KR"/>
                <a:ea typeface="Noto Sans CJK KR"/>
                <a:cs typeface="Noto Sans CJK KR"/>
              </a:defRPr>
            </a:lvl2pPr>
            <a:lvl3pPr algn="l">
              <a:defRPr sz="1800" b="0">
                <a:solidFill>
                  <a:srgbClr val="263544"/>
                </a:solidFill>
                <a:latin typeface="Noto Sans CJK KR"/>
                <a:ea typeface="Noto Sans CJK KR"/>
                <a:cs typeface="Noto Sans CJK KR"/>
              </a:defRPr>
            </a:lvl3pPr>
            <a:lvl4pPr algn="l">
              <a:defRPr sz="1800" b="0">
                <a:solidFill>
                  <a:srgbClr val="263544"/>
                </a:solidFill>
                <a:latin typeface="Noto Sans CJK KR"/>
                <a:ea typeface="Noto Sans CJK KR"/>
                <a:cs typeface="Noto Sans CJK KR"/>
              </a:defRPr>
            </a:lvl4pPr>
            <a:lvl5pPr algn="l">
              <a:defRPr sz="1800" b="0">
                <a:solidFill>
                  <a:srgbClr val="263544"/>
                </a:solidFill>
                <a:latin typeface="Noto Sans CJK KR"/>
                <a:ea typeface="Noto Sans CJK KR"/>
                <a:cs typeface="Noto Sans CJK KR"/>
              </a:defRPr>
            </a:lvl5pPr>
            <a:lvl6pPr algn="l">
              <a:defRPr sz="1800" b="0">
                <a:solidFill>
                  <a:srgbClr val="263544"/>
                </a:solidFill>
                <a:latin typeface="Noto Sans CJK KR"/>
                <a:ea typeface="Noto Sans CJK KR"/>
                <a:cs typeface="Noto Sans CJK KR"/>
              </a:defRPr>
            </a:lvl6pPr>
            <a:lvl7pPr algn="l">
              <a:defRPr sz="1800" b="0">
                <a:solidFill>
                  <a:srgbClr val="263544"/>
                </a:solidFill>
                <a:latin typeface="Noto Sans CJK KR"/>
                <a:ea typeface="Noto Sans CJK KR"/>
                <a:cs typeface="Noto Sans CJK KR"/>
              </a:defRPr>
            </a:lvl7pPr>
            <a:lvl8pPr algn="l">
              <a:defRPr sz="1800" b="0">
                <a:solidFill>
                  <a:srgbClr val="263544"/>
                </a:solidFill>
                <a:latin typeface="Noto Sans CJK KR"/>
                <a:ea typeface="Noto Sans CJK KR"/>
                <a:cs typeface="Noto Sans CJK KR"/>
              </a:defRPr>
            </a:lvl8pPr>
            <a:lvl9pPr algn="l">
              <a:defRPr sz="1800" b="0">
                <a:solidFill>
                  <a:srgbClr val="263544"/>
                </a:solidFill>
                <a:latin typeface="Noto Sans CJK KR"/>
                <a:ea typeface="Noto Sans CJK KR"/>
                <a:cs typeface="Noto Sans CJK KR"/>
              </a:defRPr>
            </a:lvl9pPr>
          </a:lstStyle>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완주: 체험·교류 / 언니네텃밭: 생산공동체</a:t>
            </a:r>
          </a:p>
        </p:txBody>
      </p:sp>
      <p:sp>
        <p:nvSpPr>
          <p:cNvPr id="18" name="factor-inference-3">
            <a:extLst xmlns:a="http://schemas.openxmlformats.org/drawingml/2006/main">
              <a:ext uri="{FF2B5EF4-FFF2-40B4-BE49-F238E27FC236}">
                <a16:creationId xmlns:a16="http://schemas.microsoft.com/office/drawing/2014/main" id="{BF232D74-91C8-4FDD-B224-5B943023A56B}"/>
              </a:ext>
            </a:extLst>
          </p:cNvPr>
          <p:cNvSpPr>
            <a:spLocks xmlns:a="http://schemas.openxmlformats.org/drawingml/2006/main" noGrp="1"/>
          </p:cNvSpPr>
          <p:nvPr/>
        </p:nvSpPr>
        <p:spPr>
          <a:xfrm xmlns:a="http://schemas.openxmlformats.org/drawingml/2006/main">
            <a:off x="1314450" y="5105400"/>
            <a:ext cx="10344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추정: 신뢰와 재구매 관계를 유지하는 데 기여 가능</a:t>
            </a:r>
          </a:p>
        </p:txBody>
      </p:sp>
      <p:sp>
        <p:nvSpPr>
          <p:cNvPr id="19" name="implication">
            <a:extLst xmlns:a="http://schemas.openxmlformats.org/drawingml/2006/main">
              <a:ext uri="{FF2B5EF4-FFF2-40B4-BE49-F238E27FC236}">
                <a16:creationId xmlns:a16="http://schemas.microsoft.com/office/drawing/2014/main" id="{7CF2666C-3775-4760-B61B-6C462C6A41D1}"/>
              </a:ext>
            </a:extLst>
          </p:cNvPr>
          <p:cNvSpPr>
            <a:spLocks xmlns:a="http://schemas.openxmlformats.org/drawingml/2006/main" noGrp="1"/>
          </p:cNvSpPr>
          <p:nvPr/>
        </p:nvSpPr>
        <p:spPr>
          <a:xfrm xmlns:a="http://schemas.openxmlformats.org/drawingml/2006/main">
            <a:off x="533400" y="59245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적용 판단: 시범 운영 전후의 품절·폐기·재구매 지표로 효과를 확인</a:t>
            </a:r>
          </a:p>
        </p:txBody>
      </p:sp>
      <p:sp>
        <p:nvSpPr>
          <p:cNvPr id="20" name="source-footnote">
            <a:extLst xmlns:a="http://schemas.openxmlformats.org/drawingml/2006/main">
              <a:ext uri="{FF2B5EF4-FFF2-40B4-BE49-F238E27FC236}">
                <a16:creationId xmlns:a16="http://schemas.microsoft.com/office/drawing/2014/main" id="{A1040842-CE69-474C-AA3F-E299FCCE88F9}"/>
              </a:ext>
            </a:extLst>
          </p:cNvPr>
          <p:cNvSpPr>
            <a:spLocks xmlns:a="http://schemas.openxmlformats.org/drawingml/2006/main" noGrp="1"/>
          </p:cNvSpPr>
          <p:nvPr/>
        </p:nvSpPr>
        <p:spPr>
          <a:xfrm xmlns:a="http://schemas.openxmlformats.org/drawingml/2006/main">
            <a:off x="533400" y="6400800"/>
            <a:ext cx="1112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근거: 1장 사례와 첨부 보고서 / 출처·자료일·원문 링크는 발표자 메모</a:t>
            </a:r>
          </a:p>
        </p:txBody>
      </p:sp>
    </p:spTree>
    <p:extLst>
      <p:ext uri="{BB962C8B-B14F-4D97-AF65-F5344CB8AC3E}">
        <p14:creationId xmlns:p14="http://schemas.microsoft.com/office/powerpoint/2010/main" val="7758002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B1DDB1E-C50B-4029-BD09-87C9541DB90E}"/>
              </a:ext>
            </a:extLst>
          </p:cNvPr>
          <p:cNvSpPr>
            <a:spLocks xmlns:a="http://schemas.openxmlformats.org/drawingml/2006/main" noGrp="1"/>
          </p:cNvSpPr>
          <p:nvPr/>
        </p:nvSpPr>
        <p:spPr>
          <a:xfrm xmlns:a="http://schemas.openxmlformats.org/drawingml/2006/main">
            <a:off x="533400" y="323850"/>
            <a:ext cx="1112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17365D"/>
                </a:solidFill>
                <a:latin typeface="Noto Sans CJK KR"/>
                <a:ea typeface="Noto Sans CJK KR"/>
                <a:cs typeface="Noto Sans CJK KR"/>
              </a:defRPr>
            </a:defPPr>
            <a:lvl1pPr algn="l">
              <a:defRPr sz="3200" b="1">
                <a:solidFill>
                  <a:srgbClr val="17365D"/>
                </a:solidFill>
                <a:latin typeface="Noto Sans CJK KR"/>
                <a:ea typeface="Noto Sans CJK KR"/>
                <a:cs typeface="Noto Sans CJK KR"/>
              </a:defRPr>
            </a:lvl1pPr>
            <a:lvl2pPr algn="l">
              <a:defRPr sz="3200" b="1">
                <a:solidFill>
                  <a:srgbClr val="17365D"/>
                </a:solidFill>
                <a:latin typeface="Noto Sans CJK KR"/>
                <a:ea typeface="Noto Sans CJK KR"/>
                <a:cs typeface="Noto Sans CJK KR"/>
              </a:defRPr>
            </a:lvl2pPr>
            <a:lvl3pPr algn="l">
              <a:defRPr sz="3200" b="1">
                <a:solidFill>
                  <a:srgbClr val="17365D"/>
                </a:solidFill>
                <a:latin typeface="Noto Sans CJK KR"/>
                <a:ea typeface="Noto Sans CJK KR"/>
                <a:cs typeface="Noto Sans CJK KR"/>
              </a:defRPr>
            </a:lvl3pPr>
            <a:lvl4pPr algn="l">
              <a:defRPr sz="3200" b="1">
                <a:solidFill>
                  <a:srgbClr val="17365D"/>
                </a:solidFill>
                <a:latin typeface="Noto Sans CJK KR"/>
                <a:ea typeface="Noto Sans CJK KR"/>
                <a:cs typeface="Noto Sans CJK KR"/>
              </a:defRPr>
            </a:lvl4pPr>
            <a:lvl5pPr algn="l">
              <a:defRPr sz="3200" b="1">
                <a:solidFill>
                  <a:srgbClr val="17365D"/>
                </a:solidFill>
                <a:latin typeface="Noto Sans CJK KR"/>
                <a:ea typeface="Noto Sans CJK KR"/>
                <a:cs typeface="Noto Sans CJK KR"/>
              </a:defRPr>
            </a:lvl5pPr>
            <a:lvl6pPr algn="l">
              <a:defRPr sz="3200" b="1">
                <a:solidFill>
                  <a:srgbClr val="17365D"/>
                </a:solidFill>
                <a:latin typeface="Noto Sans CJK KR"/>
                <a:ea typeface="Noto Sans CJK KR"/>
                <a:cs typeface="Noto Sans CJK KR"/>
              </a:defRPr>
            </a:lvl6pPr>
            <a:lvl7pPr algn="l">
              <a:defRPr sz="3200" b="1">
                <a:solidFill>
                  <a:srgbClr val="17365D"/>
                </a:solidFill>
                <a:latin typeface="Noto Sans CJK KR"/>
                <a:ea typeface="Noto Sans CJK KR"/>
                <a:cs typeface="Noto Sans CJK KR"/>
              </a:defRPr>
            </a:lvl7pPr>
            <a:lvl8pPr algn="l">
              <a:defRPr sz="3200" b="1">
                <a:solidFill>
                  <a:srgbClr val="17365D"/>
                </a:solidFill>
                <a:latin typeface="Noto Sans CJK KR"/>
                <a:ea typeface="Noto Sans CJK KR"/>
                <a:cs typeface="Noto Sans CJK KR"/>
              </a:defRPr>
            </a:lvl8pPr>
            <a:lvl9pPr algn="l">
              <a:defRPr sz="3200" b="1">
                <a:solidFill>
                  <a:srgbClr val="17365D"/>
                </a:solidFill>
                <a:latin typeface="Noto Sans CJK KR"/>
                <a:ea typeface="Noto Sans CJK KR"/>
                <a:cs typeface="Noto Sans CJK KR"/>
              </a:defRPr>
            </a:lvl9pPr>
          </a:lstStyle>
          <a:p xmlns:a="http://schemas.openxmlformats.org/drawingml/2006/main">
            <a:pPr algn="l">
              <a:defRPr sz="3200" b="1">
                <a:solidFill>
                  <a:srgbClr val="17365D"/>
                </a:solidFill>
                <a:latin typeface="Noto Sans CJK KR"/>
                <a:ea typeface="Noto Sans CJK KR"/>
                <a:cs typeface="Noto Sans CJK KR"/>
              </a:defRPr>
            </a:pPr>
            <a:r>
              <a:rPr sz="3200" b="1">
                <a:solidFill>
                  <a:srgbClr val="17365D"/>
                </a:solidFill>
                <a:latin typeface="Noto Sans CJK KR"/>
                <a:ea typeface="Noto Sans CJK KR"/>
                <a:cs typeface="Noto Sans CJK KR"/>
              </a:rPr>
              <a:t>제천로컬푸드 적용 과제</a:t>
            </a:r>
          </a:p>
        </p:txBody>
      </p:sp>
      <p:sp>
        <p:nvSpPr>
          <p:cNvPr id="2" name="slide-intro">
            <a:extLst xmlns:a="http://schemas.openxmlformats.org/drawingml/2006/main">
              <a:ext uri="{FF2B5EF4-FFF2-40B4-BE49-F238E27FC236}">
                <a16:creationId xmlns:a16="http://schemas.microsoft.com/office/drawing/2014/main" id="{A7D3A10F-DD91-43E8-A713-199FDE7C4414}"/>
              </a:ext>
            </a:extLst>
          </p:cNvPr>
          <p:cNvSpPr>
            <a:spLocks xmlns:a="http://schemas.openxmlformats.org/drawingml/2006/main" noGrp="1"/>
          </p:cNvSpPr>
          <p:nvPr/>
        </p:nvSpPr>
        <p:spPr>
          <a:xfrm xmlns:a="http://schemas.openxmlformats.org/drawingml/2006/main">
            <a:off x="533400" y="1000125"/>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Noto Sans CJK KR"/>
                <a:ea typeface="Noto Sans CJK KR"/>
                <a:cs typeface="Noto Sans CJK KR"/>
              </a:defRPr>
            </a:defPPr>
            <a:lvl1pPr algn="l">
              <a:defRPr sz="1800" b="0">
                <a:solidFill>
                  <a:srgbClr val="52616F"/>
                </a:solidFill>
                <a:latin typeface="Noto Sans CJK KR"/>
                <a:ea typeface="Noto Sans CJK KR"/>
                <a:cs typeface="Noto Sans CJK KR"/>
              </a:defRPr>
            </a:lvl1pPr>
            <a:lvl2pPr algn="l">
              <a:defRPr sz="1800" b="0">
                <a:solidFill>
                  <a:srgbClr val="52616F"/>
                </a:solidFill>
                <a:latin typeface="Noto Sans CJK KR"/>
                <a:ea typeface="Noto Sans CJK KR"/>
                <a:cs typeface="Noto Sans CJK KR"/>
              </a:defRPr>
            </a:lvl2pPr>
            <a:lvl3pPr algn="l">
              <a:defRPr sz="1800" b="0">
                <a:solidFill>
                  <a:srgbClr val="52616F"/>
                </a:solidFill>
                <a:latin typeface="Noto Sans CJK KR"/>
                <a:ea typeface="Noto Sans CJK KR"/>
                <a:cs typeface="Noto Sans CJK KR"/>
              </a:defRPr>
            </a:lvl3pPr>
            <a:lvl4pPr algn="l">
              <a:defRPr sz="1800" b="0">
                <a:solidFill>
                  <a:srgbClr val="52616F"/>
                </a:solidFill>
                <a:latin typeface="Noto Sans CJK KR"/>
                <a:ea typeface="Noto Sans CJK KR"/>
                <a:cs typeface="Noto Sans CJK KR"/>
              </a:defRPr>
            </a:lvl4pPr>
            <a:lvl5pPr algn="l">
              <a:defRPr sz="1800" b="0">
                <a:solidFill>
                  <a:srgbClr val="52616F"/>
                </a:solidFill>
                <a:latin typeface="Noto Sans CJK KR"/>
                <a:ea typeface="Noto Sans CJK KR"/>
                <a:cs typeface="Noto Sans CJK KR"/>
              </a:defRPr>
            </a:lvl5pPr>
            <a:lvl6pPr algn="l">
              <a:defRPr sz="1800" b="0">
                <a:solidFill>
                  <a:srgbClr val="52616F"/>
                </a:solidFill>
                <a:latin typeface="Noto Sans CJK KR"/>
                <a:ea typeface="Noto Sans CJK KR"/>
                <a:cs typeface="Noto Sans CJK KR"/>
              </a:defRPr>
            </a:lvl6pPr>
            <a:lvl7pPr algn="l">
              <a:defRPr sz="1800" b="0">
                <a:solidFill>
                  <a:srgbClr val="52616F"/>
                </a:solidFill>
                <a:latin typeface="Noto Sans CJK KR"/>
                <a:ea typeface="Noto Sans CJK KR"/>
                <a:cs typeface="Noto Sans CJK KR"/>
              </a:defRPr>
            </a:lvl7pPr>
            <a:lvl8pPr algn="l">
              <a:defRPr sz="1800" b="0">
                <a:solidFill>
                  <a:srgbClr val="52616F"/>
                </a:solidFill>
                <a:latin typeface="Noto Sans CJK KR"/>
                <a:ea typeface="Noto Sans CJK KR"/>
                <a:cs typeface="Noto Sans CJK KR"/>
              </a:defRPr>
            </a:lvl8pPr>
            <a:lvl9pPr algn="l">
              <a:defRPr sz="1800" b="0">
                <a:solidFill>
                  <a:srgbClr val="52616F"/>
                </a:solidFill>
                <a:latin typeface="Noto Sans CJK KR"/>
                <a:ea typeface="Noto Sans CJK KR"/>
                <a:cs typeface="Noto Sans CJK KR"/>
              </a:defRPr>
            </a:lvl9pPr>
          </a:lstStyle>
          <a:p xmlns:a="http://schemas.openxmlformats.org/drawingml/2006/main">
            <a:pPr algn="l">
              <a:defRPr sz="1800" b="0">
                <a:solidFill>
                  <a:srgbClr val="52616F"/>
                </a:solidFill>
                <a:latin typeface="Noto Sans CJK KR"/>
                <a:ea typeface="Noto Sans CJK KR"/>
                <a:cs typeface="Noto Sans CJK KR"/>
              </a:defRPr>
            </a:pPr>
            <a:r>
              <a:rPr sz="1800" b="0">
                <a:solidFill>
                  <a:srgbClr val="52616F"/>
                </a:solidFill>
                <a:latin typeface="Noto Sans CJK KR"/>
                <a:ea typeface="Noto Sans CJK KR"/>
                <a:cs typeface="Noto Sans CJK KR"/>
              </a:rPr>
              <a:t>제안: 현황 점검 후 시범 운영 범위와 예산을 결정</a:t>
            </a:r>
          </a:p>
        </p:txBody>
      </p:sp>
      <p:graphicFrame>
        <p:nvGraphicFramePr>
          <p:cNvPr id="3" name="">
            <a:extLst xmlns:a="http://schemas.openxmlformats.org/drawingml/2006/main">
              <a:ext uri="{FF2B5EF4-FFF2-40B4-BE49-F238E27FC236}">
                <a16:creationId xmlns:a16="http://schemas.microsoft.com/office/drawing/2014/main" id="{BF7B268E-9BDB-498D-B126-BB74D6D1A8B4}"/>
              </a:ext>
            </a:extLst>
          </p:cNvPr>
          <p:cNvGraphicFramePr/>
          <p:nvPr/>
        </p:nvGraphicFramePr>
        <p:xfrm>
          <a:off xmlns:a="http://schemas.openxmlformats.org/drawingml/2006/main" x="533400" y="1495425"/>
          <a:ext xmlns:a="http://schemas.openxmlformats.org/drawingml/2006/main" cx="11125200" cy="4000500"/>
        </p:xfrm>
        <a:graphic xmlns:a="http://schemas.openxmlformats.org/drawingml/2006/main">
          <a:graphicData uri="http://schemas.openxmlformats.org/drawingml/2006/table">
            <a:tbl>
              <a:tblPr firstRow="0" bandRow="0"/>
              <a:tblGrid>
                <a:gridCol w="1714500"/>
                <a:gridCol w="4210050"/>
                <a:gridCol w="2857500"/>
                <a:gridCol w="2343150"/>
              </a:tblGrid>
              <a:tr h="457200">
                <a:tc>
                  <a:txBody>
                    <a:bodyPr>
                      <a:noAutofit/>
                    </a:bodyPr>
                    <a:lstStyle/>
                    <a:p>
                      <a:r>
                        <a:rPr sz="1800" b="1">
                          <a:solidFill>
                            <a:srgbClr val="FFFFFF"/>
                          </a:solidFill>
                          <a:latin typeface="Noto Sans CJK KR"/>
                          <a:ea typeface="Noto Sans CJK KR"/>
                          <a:cs typeface="Noto Sans CJK KR"/>
                        </a:rPr>
                        <a:t>제안 과제</a:t>
                      </a:r>
                    </a:p>
                  </a:txBody>
                  <a:tcPr marL="133350" marR="133350" marT="95250" marB="95250" anchor="ctr">
                    <a:lnL w="9525">
                      <a:solidFill>
                        <a:srgbClr val="D9E1E9"/>
                      </a:solidFill>
                      <a:prstDash val="solid"/>
                    </a:lnL>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c>
                  <a:txBody>
                    <a:bodyPr>
                      <a:noAutofit/>
                    </a:bodyPr>
                    <a:lstStyle/>
                    <a:p>
                      <a:r>
                        <a:rPr sz="1800" b="1">
                          <a:solidFill>
                            <a:srgbClr val="FFFFFF"/>
                          </a:solidFill>
                          <a:latin typeface="Noto Sans CJK KR"/>
                          <a:ea typeface="Noto Sans CJK KR"/>
                          <a:cs typeface="Noto Sans CJK KR"/>
                        </a:rPr>
                        <a:t>우선 실행 내용</a:t>
                      </a:r>
                    </a:p>
                  </a:txBody>
                  <a:tcPr marL="133350" marR="133350" marT="95250" marB="95250" anchor="ctr">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c>
                  <a:txBody>
                    <a:bodyPr>
                      <a:noAutofit/>
                    </a:bodyPr>
                    <a:lstStyle/>
                    <a:p>
                      <a:r>
                        <a:rPr sz="1800" b="1">
                          <a:solidFill>
                            <a:srgbClr val="FFFFFF"/>
                          </a:solidFill>
                          <a:latin typeface="Noto Sans CJK KR"/>
                          <a:ea typeface="Noto Sans CJK KR"/>
                          <a:cs typeface="Noto Sans CJK KR"/>
                        </a:rPr>
                        <a:t>평가지표</a:t>
                      </a:r>
                    </a:p>
                  </a:txBody>
                  <a:tcPr marL="133350" marR="133350" marT="95250" marB="95250" anchor="ctr">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c>
                  <a:txBody>
                    <a:bodyPr>
                      <a:noAutofit/>
                    </a:bodyPr>
                    <a:lstStyle/>
                    <a:p>
                      <a:r>
                        <a:rPr sz="1800" b="1">
                          <a:solidFill>
                            <a:srgbClr val="FFFFFF"/>
                          </a:solidFill>
                          <a:latin typeface="Noto Sans CJK KR"/>
                          <a:ea typeface="Noto Sans CJK KR"/>
                          <a:cs typeface="Noto Sans CJK KR"/>
                        </a:rPr>
                        <a:t>선행 확인</a:t>
                      </a:r>
                    </a:p>
                  </a:txBody>
                  <a:tcPr marL="133350" marR="133350" marT="95250" marB="95250" anchor="ctr">
                    <a:lnR w="9525">
                      <a:solidFill>
                        <a:srgbClr val="D9E1E9"/>
                      </a:solidFill>
                      <a:prstDash val="solid"/>
                    </a:lnR>
                    <a:lnT w="9525">
                      <a:solidFill>
                        <a:srgbClr val="D9E1E9"/>
                      </a:solidFill>
                      <a:prstDash val="solid"/>
                    </a:lnT>
                    <a:lnB w="9525">
                      <a:solidFill>
                        <a:srgbClr val="D9E1E9"/>
                      </a:solidFill>
                      <a:prstDash val="solid"/>
                    </a:lnB>
                    <a:solidFill>
                      <a:srgbClr val="17365D"/>
                    </a:solidFill>
                  </a:tcPr>
                </a:tc>
              </a:tr>
              <a:tr h="1181100">
                <a:tc>
                  <a:txBody>
                    <a:bodyPr>
                      <a:noAutofit/>
                    </a:bodyPr>
                    <a:lstStyle/>
                    <a:p>
                      <a:r>
                        <a:rPr sz="1800" b="1">
                          <a:solidFill>
                            <a:srgbClr val="263544"/>
                          </a:solidFill>
                          <a:latin typeface="Noto Sans CJK KR"/>
                          <a:ea typeface="Noto Sans CJK KR"/>
                          <a:cs typeface="Noto Sans CJK KR"/>
                        </a:rPr>
                        <a:t>판매 데이터</a:t>
                      </a:r>
                    </a:p>
                    <a:p>
                      <a:r>
                        <a:rPr sz="1800" b="1">
                          <a:solidFill>
                            <a:srgbClr val="263544"/>
                          </a:solidFill>
                          <a:latin typeface="Noto Sans CJK KR"/>
                          <a:ea typeface="Noto Sans CJK KR"/>
                          <a:cs typeface="Noto Sans CJK KR"/>
                        </a:rPr>
                        <a:t>정비</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매장·온라인의 상품코드와</a:t>
                      </a:r>
                    </a:p>
                    <a:p>
                      <a:r>
                        <a:rPr sz="1800" b="0">
                          <a:solidFill>
                            <a:srgbClr val="263544"/>
                          </a:solidFill>
                          <a:latin typeface="Noto Sans CJK KR"/>
                          <a:ea typeface="Noto Sans CJK KR"/>
                          <a:cs typeface="Noto Sans CJK KR"/>
                        </a:rPr>
                        <a:t>재고·정산 기준 점검</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품절률·폐기율</a:t>
                      </a:r>
                    </a:p>
                    <a:p>
                      <a:r>
                        <a:rPr sz="1800" b="0">
                          <a:solidFill>
                            <a:srgbClr val="263544"/>
                          </a:solidFill>
                          <a:latin typeface="Noto Sans CJK KR"/>
                          <a:ea typeface="Noto Sans CJK KR"/>
                          <a:cs typeface="Noto Sans CJK KR"/>
                        </a:rPr>
                        <a:t>정산 소요기간</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시스템 연계</a:t>
                      </a:r>
                    </a:p>
                    <a:p>
                      <a:r>
                        <a:rPr sz="1800" b="0">
                          <a:solidFill>
                            <a:srgbClr val="263544"/>
                          </a:solidFill>
                          <a:latin typeface="Noto Sans CJK KR"/>
                          <a:ea typeface="Noto Sans CJK KR"/>
                          <a:cs typeface="Noto Sans CJK KR"/>
                        </a:rPr>
                        <a:t>가능 여부</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1181100">
                <a:tc>
                  <a:txBody>
                    <a:bodyPr>
                      <a:noAutofit/>
                    </a:bodyPr>
                    <a:lstStyle/>
                    <a:p>
                      <a:r>
                        <a:rPr sz="1800" b="1">
                          <a:solidFill>
                            <a:srgbClr val="263544"/>
                          </a:solidFill>
                          <a:latin typeface="Noto Sans CJK KR"/>
                          <a:ea typeface="Noto Sans CJK KR"/>
                          <a:cs typeface="Noto Sans CJK KR"/>
                        </a:rPr>
                        <a:t>선주문</a:t>
                      </a:r>
                    </a:p>
                    <a:p>
                      <a:r>
                        <a:rPr sz="1800" b="1">
                          <a:solidFill>
                            <a:srgbClr val="263544"/>
                          </a:solidFill>
                          <a:latin typeface="Noto Sans CJK KR"/>
                          <a:ea typeface="Noto Sans CJK KR"/>
                          <a:cs typeface="Noto Sans CJK KR"/>
                        </a:rPr>
                        <a:t>꾸러미</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고객 예약과 농가 출하계획</a:t>
                      </a:r>
                    </a:p>
                    <a:p>
                      <a:r>
                        <a:rPr sz="1800" b="0">
                          <a:solidFill>
                            <a:srgbClr val="263544"/>
                          </a:solidFill>
                          <a:latin typeface="Noto Sans CJK KR"/>
                          <a:ea typeface="Noto Sans CJK KR"/>
                          <a:cs typeface="Noto Sans CJK KR"/>
                        </a:rPr>
                        <a:t>연계 시범 운영</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예약률·재구매율</a:t>
                      </a:r>
                    </a:p>
                    <a:p>
                      <a:r>
                        <a:rPr sz="1800" b="0">
                          <a:solidFill>
                            <a:srgbClr val="263544"/>
                          </a:solidFill>
                          <a:latin typeface="Noto Sans CJK KR"/>
                          <a:ea typeface="Noto Sans CJK KR"/>
                          <a:cs typeface="Noto Sans CJK KR"/>
                        </a:rPr>
                        <a:t>배송비</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현재 운영 여부</a:t>
                      </a:r>
                    </a:p>
                    <a:p>
                      <a:r>
                        <a:rPr sz="1800" b="0">
                          <a:solidFill>
                            <a:srgbClr val="263544"/>
                          </a:solidFill>
                          <a:latin typeface="Noto Sans CJK KR"/>
                          <a:ea typeface="Noto Sans CJK KR"/>
                          <a:cs typeface="Noto Sans CJK KR"/>
                        </a:rPr>
                        <a:t>농가 참여 의향</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r h="1181100">
                <a:tc>
                  <a:txBody>
                    <a:bodyPr>
                      <a:noAutofit/>
                    </a:bodyPr>
                    <a:lstStyle/>
                    <a:p>
                      <a:r>
                        <a:rPr sz="1800" b="1">
                          <a:solidFill>
                            <a:srgbClr val="263544"/>
                          </a:solidFill>
                          <a:latin typeface="Noto Sans CJK KR"/>
                          <a:ea typeface="Noto Sans CJK KR"/>
                          <a:cs typeface="Noto Sans CJK KR"/>
                        </a:rPr>
                        <a:t>예약 장터</a:t>
                      </a:r>
                    </a:p>
                    <a:p>
                      <a:r>
                        <a:rPr sz="1800" b="1">
                          <a:solidFill>
                            <a:srgbClr val="263544"/>
                          </a:solidFill>
                          <a:latin typeface="Noto Sans CJK KR"/>
                          <a:ea typeface="Noto Sans CJK KR"/>
                          <a:cs typeface="Noto Sans CJK KR"/>
                        </a:rPr>
                        <a:t>체험 연계</a:t>
                      </a:r>
                    </a:p>
                  </a:txBody>
                  <a:tcPr marL="133350" marR="133350" marT="95250" marB="95250" anchor="ctr">
                    <a:lnL w="9525">
                      <a:solidFill>
                        <a:srgbClr val="D9E1E9"/>
                      </a:solidFill>
                      <a:prstDash val="solid"/>
                    </a:lnL>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사전주문 후 현장 수령과</a:t>
                      </a:r>
                    </a:p>
                    <a:p>
                      <a:r>
                        <a:rPr sz="1800" b="0">
                          <a:solidFill>
                            <a:srgbClr val="263544"/>
                          </a:solidFill>
                          <a:latin typeface="Noto Sans CJK KR"/>
                          <a:ea typeface="Noto Sans CJK KR"/>
                          <a:cs typeface="Noto Sans CJK KR"/>
                        </a:rPr>
                        <a:t>생산자 교류 운영</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참가자 재구매율</a:t>
                      </a:r>
                    </a:p>
                    <a:p>
                      <a:r>
                        <a:rPr sz="1800" b="0">
                          <a:solidFill>
                            <a:srgbClr val="263544"/>
                          </a:solidFill>
                          <a:latin typeface="Noto Sans CJK KR"/>
                          <a:ea typeface="Noto Sans CJK KR"/>
                          <a:cs typeface="Noto Sans CJK KR"/>
                        </a:rPr>
                        <a:t>반복주문액</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c>
                  <a:txBody>
                    <a:bodyPr>
                      <a:noAutofit/>
                    </a:bodyPr>
                    <a:lstStyle/>
                    <a:p>
                      <a:r>
                        <a:rPr sz="1800" b="0">
                          <a:solidFill>
                            <a:srgbClr val="263544"/>
                          </a:solidFill>
                          <a:latin typeface="Noto Sans CJK KR"/>
                          <a:ea typeface="Noto Sans CJK KR"/>
                          <a:cs typeface="Noto Sans CJK KR"/>
                        </a:rPr>
                        <a:t>수요·장소</a:t>
                      </a:r>
                    </a:p>
                    <a:p>
                      <a:r>
                        <a:rPr sz="1800" b="0">
                          <a:solidFill>
                            <a:srgbClr val="263544"/>
                          </a:solidFill>
                          <a:latin typeface="Noto Sans CJK KR"/>
                          <a:ea typeface="Noto Sans CJK KR"/>
                          <a:cs typeface="Noto Sans CJK KR"/>
                        </a:rPr>
                        <a:t>실행 인력</a:t>
                      </a:r>
                    </a:p>
                  </a:txBody>
                  <a:tcPr marL="133350" marR="133350" marT="95250" marB="95250" anchor="ctr">
                    <a:lnR w="9525">
                      <a:solidFill>
                        <a:srgbClr val="D9E1E9"/>
                      </a:solidFill>
                      <a:prstDash val="solid"/>
                    </a:lnR>
                    <a:lnB w="9525">
                      <a:solidFill>
                        <a:srgbClr val="D9E1E9"/>
                      </a:solidFill>
                      <a:prstDash val="solid"/>
                    </a:lnB>
                    <a:solidFill>
                      <a:srgbClr val="FFFFFF"/>
                    </a:solidFill>
                  </a:tcPr>
                </a:tc>
              </a:tr>
            </a:tbl>
          </a:graphicData>
        </a:graphic>
      </p:graphicFrame>
      <p:sp>
        <p:nvSpPr>
          <p:cNvPr id="4" name="board-request">
            <a:extLst xmlns:a="http://schemas.openxmlformats.org/drawingml/2006/main">
              <a:ext uri="{FF2B5EF4-FFF2-40B4-BE49-F238E27FC236}">
                <a16:creationId xmlns:a16="http://schemas.microsoft.com/office/drawing/2014/main" id="{9D6F3894-A433-48E1-9BDA-849E5A092511}"/>
              </a:ext>
            </a:extLst>
          </p:cNvPr>
          <p:cNvSpPr>
            <a:spLocks xmlns:a="http://schemas.openxmlformats.org/drawingml/2006/main" noGrp="1"/>
          </p:cNvSpPr>
          <p:nvPr/>
        </p:nvSpPr>
        <p:spPr>
          <a:xfrm xmlns:a="http://schemas.openxmlformats.org/drawingml/2006/main">
            <a:off x="533400" y="570547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E66B3"/>
                </a:solidFill>
                <a:latin typeface="Noto Sans CJK KR"/>
                <a:ea typeface="Noto Sans CJK KR"/>
                <a:cs typeface="Noto Sans CJK KR"/>
              </a:defRPr>
            </a:defPPr>
            <a:lvl1pPr algn="l">
              <a:defRPr sz="1800" b="1">
                <a:solidFill>
                  <a:srgbClr val="2E66B3"/>
                </a:solidFill>
                <a:latin typeface="Noto Sans CJK KR"/>
                <a:ea typeface="Noto Sans CJK KR"/>
                <a:cs typeface="Noto Sans CJK KR"/>
              </a:defRPr>
            </a:lvl1pPr>
            <a:lvl2pPr algn="l">
              <a:defRPr sz="1800" b="1">
                <a:solidFill>
                  <a:srgbClr val="2E66B3"/>
                </a:solidFill>
                <a:latin typeface="Noto Sans CJK KR"/>
                <a:ea typeface="Noto Sans CJK KR"/>
                <a:cs typeface="Noto Sans CJK KR"/>
              </a:defRPr>
            </a:lvl2pPr>
            <a:lvl3pPr algn="l">
              <a:defRPr sz="1800" b="1">
                <a:solidFill>
                  <a:srgbClr val="2E66B3"/>
                </a:solidFill>
                <a:latin typeface="Noto Sans CJK KR"/>
                <a:ea typeface="Noto Sans CJK KR"/>
                <a:cs typeface="Noto Sans CJK KR"/>
              </a:defRPr>
            </a:lvl3pPr>
            <a:lvl4pPr algn="l">
              <a:defRPr sz="1800" b="1">
                <a:solidFill>
                  <a:srgbClr val="2E66B3"/>
                </a:solidFill>
                <a:latin typeface="Noto Sans CJK KR"/>
                <a:ea typeface="Noto Sans CJK KR"/>
                <a:cs typeface="Noto Sans CJK KR"/>
              </a:defRPr>
            </a:lvl4pPr>
            <a:lvl5pPr algn="l">
              <a:defRPr sz="1800" b="1">
                <a:solidFill>
                  <a:srgbClr val="2E66B3"/>
                </a:solidFill>
                <a:latin typeface="Noto Sans CJK KR"/>
                <a:ea typeface="Noto Sans CJK KR"/>
                <a:cs typeface="Noto Sans CJK KR"/>
              </a:defRPr>
            </a:lvl5pPr>
            <a:lvl6pPr algn="l">
              <a:defRPr sz="1800" b="1">
                <a:solidFill>
                  <a:srgbClr val="2E66B3"/>
                </a:solidFill>
                <a:latin typeface="Noto Sans CJK KR"/>
                <a:ea typeface="Noto Sans CJK KR"/>
                <a:cs typeface="Noto Sans CJK KR"/>
              </a:defRPr>
            </a:lvl6pPr>
            <a:lvl7pPr algn="l">
              <a:defRPr sz="1800" b="1">
                <a:solidFill>
                  <a:srgbClr val="2E66B3"/>
                </a:solidFill>
                <a:latin typeface="Noto Sans CJK KR"/>
                <a:ea typeface="Noto Sans CJK KR"/>
                <a:cs typeface="Noto Sans CJK KR"/>
              </a:defRPr>
            </a:lvl7pPr>
            <a:lvl8pPr algn="l">
              <a:defRPr sz="1800" b="1">
                <a:solidFill>
                  <a:srgbClr val="2E66B3"/>
                </a:solidFill>
                <a:latin typeface="Noto Sans CJK KR"/>
                <a:ea typeface="Noto Sans CJK KR"/>
                <a:cs typeface="Noto Sans CJK KR"/>
              </a:defRPr>
            </a:lvl8pPr>
            <a:lvl9pPr algn="l">
              <a:defRPr sz="1800" b="1">
                <a:solidFill>
                  <a:srgbClr val="2E66B3"/>
                </a:solidFill>
                <a:latin typeface="Noto Sans CJK KR"/>
                <a:ea typeface="Noto Sans CJK KR"/>
                <a:cs typeface="Noto Sans CJK KR"/>
              </a:defRPr>
            </a:lvl9pPr>
          </a:lstStyle>
          <a:p xmlns:a="http://schemas.openxmlformats.org/drawingml/2006/main">
            <a:pPr algn="l">
              <a:defRPr sz="1800" b="1">
                <a:solidFill>
                  <a:srgbClr val="2E66B3"/>
                </a:solidFill>
                <a:latin typeface="Noto Sans CJK KR"/>
                <a:ea typeface="Noto Sans CJK KR"/>
                <a:cs typeface="Noto Sans CJK KR"/>
              </a:defRPr>
            </a:pPr>
            <a:r>
              <a:rPr sz="1800" b="1">
                <a:solidFill>
                  <a:srgbClr val="2E66B3"/>
                </a:solidFill>
                <a:latin typeface="Noto Sans CJK KR"/>
                <a:ea typeface="Noto Sans CJK KR"/>
                <a:cs typeface="Noto Sans CJK KR"/>
              </a:rPr>
              <a:t>이사회 검토 요청</a:t>
            </a:r>
          </a:p>
        </p:txBody>
      </p:sp>
      <p:sp>
        <p:nvSpPr>
          <p:cNvPr id="5" name="board-request-body">
            <a:extLst xmlns:a="http://schemas.openxmlformats.org/drawingml/2006/main">
              <a:ext uri="{FF2B5EF4-FFF2-40B4-BE49-F238E27FC236}">
                <a16:creationId xmlns:a16="http://schemas.microsoft.com/office/drawing/2014/main" id="{DB65D049-C6AB-416C-892F-C84094C56A9F}"/>
              </a:ext>
            </a:extLst>
          </p:cNvPr>
          <p:cNvSpPr>
            <a:spLocks xmlns:a="http://schemas.openxmlformats.org/drawingml/2006/main" noGrp="1"/>
          </p:cNvSpPr>
          <p:nvPr/>
        </p:nvSpPr>
        <p:spPr>
          <a:xfrm xmlns:a="http://schemas.openxmlformats.org/drawingml/2006/main">
            <a:off x="533400" y="6086475"/>
            <a:ext cx="1112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63544"/>
                </a:solidFill>
                <a:latin typeface="Noto Sans CJK KR"/>
                <a:ea typeface="Noto Sans CJK KR"/>
                <a:cs typeface="Noto Sans CJK KR"/>
              </a:defRPr>
            </a:defPPr>
            <a:lvl1pPr algn="l">
              <a:defRPr sz="1800" b="0">
                <a:solidFill>
                  <a:srgbClr val="263544"/>
                </a:solidFill>
                <a:latin typeface="Noto Sans CJK KR"/>
                <a:ea typeface="Noto Sans CJK KR"/>
                <a:cs typeface="Noto Sans CJK KR"/>
              </a:defRPr>
            </a:lvl1pPr>
            <a:lvl2pPr algn="l">
              <a:defRPr sz="1800" b="0">
                <a:solidFill>
                  <a:srgbClr val="263544"/>
                </a:solidFill>
                <a:latin typeface="Noto Sans CJK KR"/>
                <a:ea typeface="Noto Sans CJK KR"/>
                <a:cs typeface="Noto Sans CJK KR"/>
              </a:defRPr>
            </a:lvl2pPr>
            <a:lvl3pPr algn="l">
              <a:defRPr sz="1800" b="0">
                <a:solidFill>
                  <a:srgbClr val="263544"/>
                </a:solidFill>
                <a:latin typeface="Noto Sans CJK KR"/>
                <a:ea typeface="Noto Sans CJK KR"/>
                <a:cs typeface="Noto Sans CJK KR"/>
              </a:defRPr>
            </a:lvl3pPr>
            <a:lvl4pPr algn="l">
              <a:defRPr sz="1800" b="0">
                <a:solidFill>
                  <a:srgbClr val="263544"/>
                </a:solidFill>
                <a:latin typeface="Noto Sans CJK KR"/>
                <a:ea typeface="Noto Sans CJK KR"/>
                <a:cs typeface="Noto Sans CJK KR"/>
              </a:defRPr>
            </a:lvl4pPr>
            <a:lvl5pPr algn="l">
              <a:defRPr sz="1800" b="0">
                <a:solidFill>
                  <a:srgbClr val="263544"/>
                </a:solidFill>
                <a:latin typeface="Noto Sans CJK KR"/>
                <a:ea typeface="Noto Sans CJK KR"/>
                <a:cs typeface="Noto Sans CJK KR"/>
              </a:defRPr>
            </a:lvl5pPr>
            <a:lvl6pPr algn="l">
              <a:defRPr sz="1800" b="0">
                <a:solidFill>
                  <a:srgbClr val="263544"/>
                </a:solidFill>
                <a:latin typeface="Noto Sans CJK KR"/>
                <a:ea typeface="Noto Sans CJK KR"/>
                <a:cs typeface="Noto Sans CJK KR"/>
              </a:defRPr>
            </a:lvl6pPr>
            <a:lvl7pPr algn="l">
              <a:defRPr sz="1800" b="0">
                <a:solidFill>
                  <a:srgbClr val="263544"/>
                </a:solidFill>
                <a:latin typeface="Noto Sans CJK KR"/>
                <a:ea typeface="Noto Sans CJK KR"/>
                <a:cs typeface="Noto Sans CJK KR"/>
              </a:defRPr>
            </a:lvl7pPr>
            <a:lvl8pPr algn="l">
              <a:defRPr sz="1800" b="0">
                <a:solidFill>
                  <a:srgbClr val="263544"/>
                </a:solidFill>
                <a:latin typeface="Noto Sans CJK KR"/>
                <a:ea typeface="Noto Sans CJK KR"/>
                <a:cs typeface="Noto Sans CJK KR"/>
              </a:defRPr>
            </a:lvl8pPr>
            <a:lvl9pPr algn="l">
              <a:defRPr sz="1800" b="0">
                <a:solidFill>
                  <a:srgbClr val="263544"/>
                </a:solidFill>
                <a:latin typeface="Noto Sans CJK KR"/>
                <a:ea typeface="Noto Sans CJK KR"/>
                <a:cs typeface="Noto Sans CJK KR"/>
              </a:defRPr>
            </a:lvl9pPr>
          </a:lstStyle>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시범사업 우선순위와 추진 검토 여부 결정</a:t>
            </a:r>
          </a:p>
          <a:p xmlns:a="http://schemas.openxmlformats.org/drawingml/2006/main">
            <a:pPr algn="l">
              <a:defRPr sz="1800" b="0">
                <a:solidFill>
                  <a:srgbClr val="263544"/>
                </a:solidFill>
                <a:latin typeface="Noto Sans CJK KR"/>
                <a:ea typeface="Noto Sans CJK KR"/>
                <a:cs typeface="Noto Sans CJK KR"/>
              </a:defRPr>
            </a:pPr>
            <a:r>
              <a:rPr sz="1800" b="0">
                <a:solidFill>
                  <a:srgbClr val="263544"/>
                </a:solidFill>
                <a:latin typeface="Noto Sans CJK KR"/>
                <a:ea typeface="Noto Sans CJK KR"/>
                <a:cs typeface="Noto Sans CJK KR"/>
              </a:rPr>
              <a:t>담당자·예산·기한·목표치: 확인 필요 / 기대효과: 추정</a:t>
            </a:r>
          </a:p>
        </p:txBody>
      </p:sp>
    </p:spTree>
    <p:extLst>
      <p:ext uri="{BB962C8B-B14F-4D97-AF65-F5344CB8AC3E}">
        <p14:creationId xmlns:p14="http://schemas.microsoft.com/office/powerpoint/2010/main" val="30392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2026-10-27T17:30:08.4730000Z</dcterms:created>
  <dcterms:modified xsi:type="dcterms:W3CDTF">2026-10-27T17:30:08.4730000Z</dcterms:modified>
</coreProperties>
</file>