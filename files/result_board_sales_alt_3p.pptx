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2471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7365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3개 직매장 매출은 961만 원, 정산액은 817만 원입니다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02920" y="1060704"/>
            <a:ext cx="11173968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" y="6510528"/>
            <a:ext cx="9144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제천로컬푸드협동조합 | 2026년 7~9월 · 교육용 가상자료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698480" y="6510528"/>
            <a:ext cx="95097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 / 03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94360" y="1371600"/>
            <a:ext cx="3584448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95528" y="1536192"/>
            <a:ext cx="32186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총매출액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95528" y="1856232"/>
            <a:ext cx="3218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2E66B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9,610,500원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795528" y="2395728"/>
            <a:ext cx="32186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정제본 78건 기준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306824" y="1371600"/>
            <a:ext cx="3584448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07992" y="1536192"/>
            <a:ext cx="32186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총정산액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507992" y="1856232"/>
            <a:ext cx="3218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2E66B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8,168,925원</a:t>
            </a:r>
            <a:endParaRPr lang="en-US" sz="2700" dirty="0"/>
          </a:p>
        </p:txBody>
      </p:sp>
      <p:sp>
        <p:nvSpPr>
          <p:cNvPr id="13" name="Text 11"/>
          <p:cNvSpPr/>
          <p:nvPr/>
        </p:nvSpPr>
        <p:spPr>
          <a:xfrm>
            <a:off x="4507992" y="2395728"/>
            <a:ext cx="32186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원본 수수료율 15% 반영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019288" y="1371600"/>
            <a:ext cx="356616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0456" y="1536192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운영 매장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8220456" y="1856232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2E66B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3곳</a:t>
            </a:r>
            <a:endParaRPr lang="en-US" sz="2700" dirty="0"/>
          </a:p>
        </p:txBody>
      </p:sp>
      <p:sp>
        <p:nvSpPr>
          <p:cNvPr id="17" name="Text 15"/>
          <p:cNvSpPr/>
          <p:nvPr/>
        </p:nvSpPr>
        <p:spPr>
          <a:xfrm>
            <a:off x="8220456" y="2395728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1호점 · 이마트매장 · 배론점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21792" y="3008376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7365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매장별·월별 매출 현황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612648" y="3502152"/>
            <a:ext cx="2148840" cy="493776"/>
          </a:xfrm>
          <a:prstGeom prst="rect">
            <a:avLst/>
          </a:prstGeom>
          <a:solidFill>
            <a:srgbClr val="17365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04088" y="3611880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매장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2761488" y="3502152"/>
            <a:ext cx="2057400" cy="493776"/>
          </a:xfrm>
          <a:prstGeom prst="rect">
            <a:avLst/>
          </a:prstGeom>
          <a:solidFill>
            <a:srgbClr val="17365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852928" y="3611880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7월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818888" y="3502152"/>
            <a:ext cx="2057400" cy="493776"/>
          </a:xfrm>
          <a:prstGeom prst="rect">
            <a:avLst/>
          </a:prstGeom>
          <a:solidFill>
            <a:srgbClr val="17365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10328" y="3611880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8월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876288" y="3502152"/>
            <a:ext cx="2057400" cy="493776"/>
          </a:xfrm>
          <a:prstGeom prst="rect">
            <a:avLst/>
          </a:prstGeom>
          <a:solidFill>
            <a:srgbClr val="17365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967728" y="3611880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9월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8933688" y="3502152"/>
            <a:ext cx="2587752" cy="493776"/>
          </a:xfrm>
          <a:prstGeom prst="rect">
            <a:avLst/>
          </a:prstGeom>
          <a:solidFill>
            <a:srgbClr val="17365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025128" y="3611880"/>
            <a:ext cx="2404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합계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612648" y="3995928"/>
            <a:ext cx="2148840" cy="493776"/>
          </a:xfrm>
          <a:prstGeom prst="rect">
            <a:avLst/>
          </a:prstGeom>
          <a:solidFill>
            <a:srgbClr val="F7FAFD"/>
          </a:solidFill>
          <a:ln w="6350">
            <a:solidFill>
              <a:srgbClr val="D9E2E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04088" y="4123944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2536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1호점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2761488" y="3995928"/>
            <a:ext cx="2057400" cy="493776"/>
          </a:xfrm>
          <a:prstGeom prst="rect">
            <a:avLst/>
          </a:prstGeom>
          <a:solidFill>
            <a:srgbClr val="F7FAFD"/>
          </a:solidFill>
          <a:ln w="6350">
            <a:solidFill>
              <a:srgbClr val="D9E2E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852928" y="4123944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400" dirty="0">
                <a:solidFill>
                  <a:srgbClr val="2536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988,000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4818888" y="3995928"/>
            <a:ext cx="2057400" cy="493776"/>
          </a:xfrm>
          <a:prstGeom prst="rect">
            <a:avLst/>
          </a:prstGeom>
          <a:solidFill>
            <a:srgbClr val="F7FAFD"/>
          </a:solidFill>
          <a:ln w="6350">
            <a:solidFill>
              <a:srgbClr val="D9E2E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10328" y="4123944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400" dirty="0">
                <a:solidFill>
                  <a:srgbClr val="2536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1,551,500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6876288" y="3995928"/>
            <a:ext cx="2057400" cy="493776"/>
          </a:xfrm>
          <a:prstGeom prst="rect">
            <a:avLst/>
          </a:prstGeom>
          <a:solidFill>
            <a:srgbClr val="F7FAFD"/>
          </a:solidFill>
          <a:ln w="6350">
            <a:solidFill>
              <a:srgbClr val="D9E2E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967728" y="4123944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400" dirty="0">
                <a:solidFill>
                  <a:srgbClr val="2536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871,500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8933688" y="3995928"/>
            <a:ext cx="2587752" cy="493776"/>
          </a:xfrm>
          <a:prstGeom prst="rect">
            <a:avLst/>
          </a:prstGeom>
          <a:solidFill>
            <a:srgbClr val="F7FAFD"/>
          </a:solidFill>
          <a:ln w="6350">
            <a:solidFill>
              <a:srgbClr val="D9E2E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025128" y="4123944"/>
            <a:ext cx="2404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400" dirty="0">
                <a:solidFill>
                  <a:srgbClr val="2536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3,411,000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612648" y="4489704"/>
            <a:ext cx="214884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04088" y="461772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2536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이마트매장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2761488" y="4489704"/>
            <a:ext cx="205740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852928" y="461772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400" dirty="0">
                <a:solidFill>
                  <a:srgbClr val="2536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912,000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4818888" y="4489704"/>
            <a:ext cx="205740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910328" y="461772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400" dirty="0">
                <a:solidFill>
                  <a:srgbClr val="2536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902,000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6876288" y="4489704"/>
            <a:ext cx="205740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967728" y="461772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400" dirty="0">
                <a:solidFill>
                  <a:srgbClr val="2536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1,197,500</a:t>
            </a:r>
            <a:endParaRPr lang="en-US" sz="1400" dirty="0"/>
          </a:p>
        </p:txBody>
      </p:sp>
      <p:sp>
        <p:nvSpPr>
          <p:cNvPr id="47" name="Shape 45"/>
          <p:cNvSpPr/>
          <p:nvPr/>
        </p:nvSpPr>
        <p:spPr>
          <a:xfrm>
            <a:off x="8933688" y="4489704"/>
            <a:ext cx="2587752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9025128" y="4617720"/>
            <a:ext cx="2404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400" dirty="0">
                <a:solidFill>
                  <a:srgbClr val="2536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3,011,500</a:t>
            </a:r>
            <a:endParaRPr lang="en-US" sz="1400" dirty="0"/>
          </a:p>
        </p:txBody>
      </p:sp>
      <p:sp>
        <p:nvSpPr>
          <p:cNvPr id="49" name="Shape 47"/>
          <p:cNvSpPr/>
          <p:nvPr/>
        </p:nvSpPr>
        <p:spPr>
          <a:xfrm>
            <a:off x="612648" y="4983480"/>
            <a:ext cx="2148840" cy="493776"/>
          </a:xfrm>
          <a:prstGeom prst="rect">
            <a:avLst/>
          </a:prstGeom>
          <a:solidFill>
            <a:srgbClr val="F7FAFD"/>
          </a:solidFill>
          <a:ln w="6350">
            <a:solidFill>
              <a:srgbClr val="D9E2EC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04088" y="5111496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2536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배론점</a:t>
            </a:r>
            <a:endParaRPr lang="en-US" sz="1400" dirty="0"/>
          </a:p>
        </p:txBody>
      </p:sp>
      <p:sp>
        <p:nvSpPr>
          <p:cNvPr id="51" name="Shape 49"/>
          <p:cNvSpPr/>
          <p:nvPr/>
        </p:nvSpPr>
        <p:spPr>
          <a:xfrm>
            <a:off x="2761488" y="4983480"/>
            <a:ext cx="2057400" cy="493776"/>
          </a:xfrm>
          <a:prstGeom prst="rect">
            <a:avLst/>
          </a:prstGeom>
          <a:solidFill>
            <a:srgbClr val="F7FAFD"/>
          </a:solidFill>
          <a:ln w="6350">
            <a:solidFill>
              <a:srgbClr val="D9E2EC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852928" y="5111496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400" dirty="0">
                <a:solidFill>
                  <a:srgbClr val="2536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1,372,000</a:t>
            </a:r>
            <a:endParaRPr lang="en-US" sz="1400" dirty="0"/>
          </a:p>
        </p:txBody>
      </p:sp>
      <p:sp>
        <p:nvSpPr>
          <p:cNvPr id="53" name="Shape 51"/>
          <p:cNvSpPr/>
          <p:nvPr/>
        </p:nvSpPr>
        <p:spPr>
          <a:xfrm>
            <a:off x="4818888" y="4983480"/>
            <a:ext cx="2057400" cy="493776"/>
          </a:xfrm>
          <a:prstGeom prst="rect">
            <a:avLst/>
          </a:prstGeom>
          <a:solidFill>
            <a:srgbClr val="F7FAFD"/>
          </a:solidFill>
          <a:ln w="6350">
            <a:solidFill>
              <a:srgbClr val="D9E2EC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910328" y="5111496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400" dirty="0">
                <a:solidFill>
                  <a:srgbClr val="2536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757,000</a:t>
            </a:r>
            <a:endParaRPr lang="en-US" sz="1400" dirty="0"/>
          </a:p>
        </p:txBody>
      </p:sp>
      <p:sp>
        <p:nvSpPr>
          <p:cNvPr id="55" name="Shape 53"/>
          <p:cNvSpPr/>
          <p:nvPr/>
        </p:nvSpPr>
        <p:spPr>
          <a:xfrm>
            <a:off x="6876288" y="4983480"/>
            <a:ext cx="2057400" cy="493776"/>
          </a:xfrm>
          <a:prstGeom prst="rect">
            <a:avLst/>
          </a:prstGeom>
          <a:solidFill>
            <a:srgbClr val="F7FAFD"/>
          </a:solidFill>
          <a:ln w="6350">
            <a:solidFill>
              <a:srgbClr val="D9E2EC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967728" y="5111496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400" dirty="0">
                <a:solidFill>
                  <a:srgbClr val="2536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1,059,000</a:t>
            </a:r>
            <a:endParaRPr lang="en-US" sz="1400" dirty="0"/>
          </a:p>
        </p:txBody>
      </p:sp>
      <p:sp>
        <p:nvSpPr>
          <p:cNvPr id="57" name="Shape 55"/>
          <p:cNvSpPr/>
          <p:nvPr/>
        </p:nvSpPr>
        <p:spPr>
          <a:xfrm>
            <a:off x="8933688" y="4983480"/>
            <a:ext cx="2587752" cy="493776"/>
          </a:xfrm>
          <a:prstGeom prst="rect">
            <a:avLst/>
          </a:prstGeom>
          <a:solidFill>
            <a:srgbClr val="F7FAFD"/>
          </a:solidFill>
          <a:ln w="6350">
            <a:solidFill>
              <a:srgbClr val="D9E2EC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9025128" y="5111496"/>
            <a:ext cx="2404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400" dirty="0">
                <a:solidFill>
                  <a:srgbClr val="2536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3,188,000</a:t>
            </a:r>
            <a:endParaRPr lang="en-US" sz="1400" dirty="0"/>
          </a:p>
        </p:txBody>
      </p:sp>
      <p:sp>
        <p:nvSpPr>
          <p:cNvPr id="59" name="Shape 57"/>
          <p:cNvSpPr/>
          <p:nvPr/>
        </p:nvSpPr>
        <p:spPr>
          <a:xfrm>
            <a:off x="612648" y="5477256"/>
            <a:ext cx="214884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04088" y="5605272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7365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전체</a:t>
            </a:r>
            <a:endParaRPr lang="en-US" sz="1400" dirty="0"/>
          </a:p>
        </p:txBody>
      </p:sp>
      <p:sp>
        <p:nvSpPr>
          <p:cNvPr id="61" name="Shape 59"/>
          <p:cNvSpPr/>
          <p:nvPr/>
        </p:nvSpPr>
        <p:spPr>
          <a:xfrm>
            <a:off x="2761488" y="5477256"/>
            <a:ext cx="205740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2852928" y="5605272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7365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3,272,000</a:t>
            </a:r>
            <a:endParaRPr lang="en-US" sz="1400" dirty="0"/>
          </a:p>
        </p:txBody>
      </p:sp>
      <p:sp>
        <p:nvSpPr>
          <p:cNvPr id="63" name="Shape 61"/>
          <p:cNvSpPr/>
          <p:nvPr/>
        </p:nvSpPr>
        <p:spPr>
          <a:xfrm>
            <a:off x="4818888" y="5477256"/>
            <a:ext cx="205740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910328" y="5605272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7365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3,210,500</a:t>
            </a:r>
            <a:endParaRPr lang="en-US" sz="1400" dirty="0"/>
          </a:p>
        </p:txBody>
      </p:sp>
      <p:sp>
        <p:nvSpPr>
          <p:cNvPr id="65" name="Shape 63"/>
          <p:cNvSpPr/>
          <p:nvPr/>
        </p:nvSpPr>
        <p:spPr>
          <a:xfrm>
            <a:off x="6876288" y="5477256"/>
            <a:ext cx="205740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967728" y="5605272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7365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3,128,000</a:t>
            </a:r>
            <a:endParaRPr lang="en-US" sz="1400" dirty="0"/>
          </a:p>
        </p:txBody>
      </p:sp>
      <p:sp>
        <p:nvSpPr>
          <p:cNvPr id="67" name="Shape 65"/>
          <p:cNvSpPr/>
          <p:nvPr/>
        </p:nvSpPr>
        <p:spPr>
          <a:xfrm>
            <a:off x="8933688" y="5477256"/>
            <a:ext cx="2587752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9025128" y="5605272"/>
            <a:ext cx="2404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7365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9,610,500</a:t>
            </a:r>
            <a:endParaRPr lang="en-US" sz="1400" dirty="0"/>
          </a:p>
        </p:txBody>
      </p:sp>
      <p:sp>
        <p:nvSpPr>
          <p:cNvPr id="69" name="Text 67"/>
          <p:cNvSpPr/>
          <p:nvPr/>
        </p:nvSpPr>
        <p:spPr>
          <a:xfrm>
            <a:off x="640080" y="612648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자료: 판매데이터 정제본(2026. 7.~9.) | 단위: 원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2471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7365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월별 매출은 감소했고, 상위 과일 3종이 59.5%를 차지합니다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02920" y="1060704"/>
            <a:ext cx="11173968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" y="6510528"/>
            <a:ext cx="9144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제천로컬푸드협동조합 | 2026년 7~9월 · 교육용 가상자료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698480" y="6510528"/>
            <a:ext cx="95097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 / 03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132588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7365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월별 매출 추이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0" y="13258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7365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품목별 매출 TOP5</a:t>
            </a:r>
            <a:endParaRPr lang="en-US" sz="2000" dirty="0"/>
          </a:p>
        </p:txBody>
      </p:sp>
      <p:pic>
        <p:nvPicPr>
          <p:cNvPr id="8" name="Image 0" descr="/mnt/data/월별매출추이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1208" y="1737360"/>
            <a:ext cx="5623560" cy="3291840"/>
          </a:xfrm>
          <a:prstGeom prst="rect">
            <a:avLst/>
          </a:prstGeom>
        </p:spPr>
      </p:pic>
      <p:pic>
        <p:nvPicPr>
          <p:cNvPr id="9" name="Image 1" descr="/mnt/data/품목TOP5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4768" y="1737360"/>
            <a:ext cx="5504688" cy="329184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685800" y="5276088"/>
            <a:ext cx="10799064" cy="676656"/>
          </a:xfrm>
          <a:prstGeom prst="roundRect">
            <a:avLst>
              <a:gd name="adj" fmla="val 10811"/>
            </a:avLst>
          </a:prstGeom>
          <a:solidFill>
            <a:srgbClr val="F2F6FB"/>
          </a:solidFill>
          <a:ln w="12700">
            <a:solidFill>
              <a:srgbClr val="F2F6FB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932688" y="5449824"/>
            <a:ext cx="10259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7365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관찰: 7월 3,272,000원 → 9월 3,128,000원 (144,000원 감소, 약 4.4%)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694944" y="6053328"/>
            <a:ext cx="10515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상위 과일 3종: 사과·복숭아·포도 5,715,000원 / 총매출 9,610,500원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2471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7365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매장별 판매 대응과 데이터 관리 개선을 우선 추진해야 합니다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02920" y="1060704"/>
            <a:ext cx="11173968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" y="6510528"/>
            <a:ext cx="9144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제천로컬푸드협동조합 | 2026년 7~9월 · 교육용 가상자료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698480" y="6510528"/>
            <a:ext cx="95097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 / 03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76656" y="1435608"/>
            <a:ext cx="10808208" cy="1261872"/>
          </a:xfrm>
          <a:prstGeom prst="roundRect">
            <a:avLst>
              <a:gd name="adj" fmla="val 7246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96112" y="1627632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2E66B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645920" y="1563624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7365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매장별 판매 점검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1655064" y="2002536"/>
            <a:ext cx="93268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근거  1호점 8월 최고, 이마트매장 9월 최고, 배론점 8월 저점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655064" y="2322576"/>
            <a:ext cx="9372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536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제안  매장별 월간 실적을 비교하고 진열·행사 운영 검토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76656" y="2926080"/>
            <a:ext cx="10808208" cy="1261872"/>
          </a:xfrm>
          <a:prstGeom prst="roundRect">
            <a:avLst>
              <a:gd name="adj" fmla="val 7246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96112" y="3118104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2E66B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645920" y="3054096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7365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과일 매출 의존도 관리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1655064" y="3493008"/>
            <a:ext cx="93268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근거  사과·복숭아·포도 매출 비중 59.5%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655064" y="3813048"/>
            <a:ext cx="9372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536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제안  (추정) 비수기 품목 구성·판촉 다변화 검토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76656" y="4416552"/>
            <a:ext cx="10808208" cy="1261872"/>
          </a:xfrm>
          <a:prstGeom prst="roundRect">
            <a:avLst>
              <a:gd name="adj" fmla="val 7246"/>
            </a:avLst>
          </a:prstGeom>
          <a:solidFill>
            <a:srgbClr val="FAFCFE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96112" y="4608576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2E66B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645920" y="4544568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7365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정산 데이터 정확성 확보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1655064" y="4983480"/>
            <a:ext cx="93268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근거  농가명 미확인 정산액 38,250원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655064" y="5303520"/>
            <a:ext cx="9372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536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제안  해당 원거래 확인 후 농가명 확정·정산 대조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731520" y="6108192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개선 제안은 실행 검토안이며, 원인 판단에는 추가 자료가 필요합니다.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직매장 판매실적 이사회 보고</dc:title>
  <dc:subject>직매장 2026년 7~9월 판매실적 이사회 보고</dc:subject>
  <dc:creator>제천로컬푸드 업무비서</dc:creator>
  <cp:lastModifiedBy>제천로컬푸드 업무비서</cp:lastModifiedBy>
  <cp:revision>1</cp:revision>
  <dcterms:created xsi:type="dcterms:W3CDTF">2026-10-27T17:53:13Z</dcterms:created>
  <dcterms:modified xsi:type="dcterms:W3CDTF">2026-10-27T17:53:13Z</dcterms:modified>
</cp:coreProperties>
</file>