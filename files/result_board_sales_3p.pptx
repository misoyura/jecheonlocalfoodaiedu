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768f1adaa84c28" /><Relationship Type="http://schemas.openxmlformats.org/officeDocument/2006/relationships/extended-properties" Target="/docProps/app.xml" Id="Raf187518bdcb457c" /><Relationship Type="http://schemas.openxmlformats.org/officeDocument/2006/relationships/officeDocument" Target="/ppt/presentation.xml" Id="Re2c5dc5d919945d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c51c8c97c9412e"/>
  </p:sldMasterIdLst>
  <p:notesMasterIdLst>
    <p:notesMasterId xmlns:r="http://schemas.openxmlformats.org/officeDocument/2006/relationships" r:id="Redb6597d8eca4c27"/>
  </p:notesMasterIdLst>
  <p:sldIdLst>
    <p:sldId xmlns:r="http://schemas.openxmlformats.org/officeDocument/2006/relationships" id="256" r:id="R2e8a3b790ba84198"/>
    <p:sldId xmlns:r="http://schemas.openxmlformats.org/officeDocument/2006/relationships" id="257" r:id="R20f925820cb542cd"/>
    <p:sldId xmlns:r="http://schemas.openxmlformats.org/officeDocument/2006/relationships" id="258" r:id="R0df92e5502a4453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9ff6a1735f4080" /><Relationship Type="http://schemas.openxmlformats.org/officeDocument/2006/relationships/slideMaster" Target="/ppt/slideMasters/slideMaster1.xml" Id="R25c51c8c97c9412e" /><Relationship Type="http://schemas.openxmlformats.org/officeDocument/2006/relationships/notesMaster" Target="/ppt/notesMasters/notesMaster1.xml" Id="Redb6597d8eca4c27" /><Relationship Type="http://schemas.openxmlformats.org/officeDocument/2006/relationships/presProps" Target="/ppt/presProps.xml" Id="Rdaa51ef16a7d401c" /><Relationship Type="http://schemas.openxmlformats.org/officeDocument/2006/relationships/tableStyles" Target="/ppt/tableStyles.xml" Id="Rba3a1f2122ec4d37" /><Relationship Type="http://schemas.openxmlformats.org/officeDocument/2006/relationships/slide" Target="/ppt/slides/slide1.xml" Id="R2e8a3b790ba84198" /><Relationship Type="http://schemas.openxmlformats.org/officeDocument/2006/relationships/slide" Target="/ppt/slides/slide2.xml" Id="R20f925820cb542cd" /><Relationship Type="http://schemas.openxmlformats.org/officeDocument/2006/relationships/slide" Target="/ppt/slides/slide3.xml" Id="R0df92e5502a445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6732fae832d42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d8a3169ac1d4383" /><Relationship Type="http://schemas.openxmlformats.org/officeDocument/2006/relationships/notesMaster" Target="/ppt/notesMasters/notesMaster1.xml" Id="R49cf1fbb20ae43f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6e135803d74ca9" /><Relationship Type="http://schemas.openxmlformats.org/officeDocument/2006/relationships/notesMaster" Target="/ppt/notesMasters/notesMaster1.xml" Id="R3f95457a3e3e491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3cdbfdc81d3455e" /><Relationship Type="http://schemas.openxmlformats.org/officeDocument/2006/relationships/notesMaster" Target="/ppt/notesMasters/notesMaster1.xml" Id="R2695825a91b140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정제본_판매데이터(1).xlsx, 정제본 시트 A1:J79. H열 매출액을 매장 및 판매월별로 합산. 정산액과 구분. 판매일자 2026-07-03~2026-09-30. 금액표 원 단위, 그래프 만원 단위 소수점 둘째 자리. 증감률=(당월/전월-1)×100, 소수점 첫째 자리 반올림. 7월 대비 9월 -4.40098%. 농가명 확인 필요 C43 포함. 제공 기록의 합계이며 전체 실제 매출 포함 여부는 확인 필요.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정제본_판매데이터(1).xlsx, 정제본 시트. E열 품목과 판매월을 기준으로 H열 합산. 모든 14개 품목 포함, 누계 매출 내림차순으로 좌측 표부터 우측 표로 배열. 표 단위는 만원이고 소수점 둘째 자리로 표기해 원 단위 합계가 보존됨. 대시는 해당 조합의 기록 부재이며 실제 판매액이 0원이었다고 단정하지 않음. 상추 전월 대비 -87500/217500=-40.2299%. 상위3품목 비중 5715000/9610500=59.4662%.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정제본 시트 1호점 8월 1551500원, 9월 871500원. 감소 680000원. 사과 및 포도 매출 증가는 데이터에서 확인한 사실이며 진열 또는 출하 확대의 효과는 확정하지 않음. 출하 품목 전환 관련 문장은 원인 해석으로 추정 표시. 재고·방문객·출하·행사 및 예산 자료는 제공되지 않아 확인 필요. 담당자·기한은 미확정. 진행 상태 제안은 본 보고서의 제안 단계 표시이며 실제 업무 착수 상태를 단정하지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2354cbe9d4492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21dcb93a334fb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97c077f98345f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b324f2a8c14f6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adb40df05143f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bdfd68a125462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6F46544-5266-4FF2-852C-0166406CE8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8BECD15-35D5-46D5-BBA5-B6BEFF48238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BCCCA8D-F029-4AE9-BE83-EE8557E053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6D16828-8622-4A4D-BFBC-152D917E8D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38C7968-06CE-4F9C-B4D4-4307185395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B44FBED-9BBC-4536-B070-E691DACA3C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2CBF31F-1E97-4E3F-A807-478EE0680DD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058D2A0-9DA2-4352-BE30-3B2BE413819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68C09BC-E44F-46DB-83D6-35B3E5B6BB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D7D10C3-4FDE-4702-8915-41DCD709CEF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b2fee15a06a4b2f" /><Relationship Type="http://schemas.openxmlformats.org/officeDocument/2006/relationships/slideLayout" Target="/ppt/slideLayouts/slideLayout1.xml" Id="Radffcfdd01694c4b" /><Relationship Type="http://schemas.openxmlformats.org/officeDocument/2006/relationships/slideLayout" Target="/ppt/slideLayouts/slideLayout2.xml" Id="Red155f7b897b43ce" /><Relationship Type="http://schemas.openxmlformats.org/officeDocument/2006/relationships/slideLayout" Target="/ppt/slideLayouts/slideLayout3.xml" Id="R7a133e9ae3f04caf" /><Relationship Type="http://schemas.openxmlformats.org/officeDocument/2006/relationships/slideLayout" Target="/ppt/slideLayouts/slideLayout4.xml" Id="R1992a2eff6ef4598" /><Relationship Type="http://schemas.openxmlformats.org/officeDocument/2006/relationships/slideLayout" Target="/ppt/slideLayouts/slideLayout5.xml" Id="R7f0199623d504fef" /><Relationship Type="http://schemas.openxmlformats.org/officeDocument/2006/relationships/slideLayout" Target="/ppt/slideLayouts/slideLayout6.xml" Id="Rb996c9a7af9048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ffcfdd01694c4b"/>
    <p:sldLayoutId xmlns:r="http://schemas.openxmlformats.org/officeDocument/2006/relationships" id="2147483650" r:id="Red155f7b897b43ce"/>
    <p:sldLayoutId xmlns:r="http://schemas.openxmlformats.org/officeDocument/2006/relationships" id="2147483651" r:id="R7a133e9ae3f04caf"/>
    <p:sldLayoutId xmlns:r="http://schemas.openxmlformats.org/officeDocument/2006/relationships" id="2147483652" r:id="R1992a2eff6ef4598"/>
    <p:sldLayoutId xmlns:r="http://schemas.openxmlformats.org/officeDocument/2006/relationships" id="2147483653" r:id="R7f0199623d504fef"/>
    <p:sldLayoutId xmlns:r="http://schemas.openxmlformats.org/officeDocument/2006/relationships" id="2147483654" r:id="Rb996c9a7af9048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091e9849dd4d6d" /><Relationship Type="http://schemas.openxmlformats.org/officeDocument/2006/relationships/chart" Target="/ppt/slides/charts/chart1.xml" Id="Rcd3bb24293a647e6" /><Relationship Type="http://schemas.openxmlformats.org/officeDocument/2006/relationships/notesSlide" Target="/ppt/notesSlides/notesSlide1.xml" Id="R91e94b353ea045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afb76c28724f2c" /><Relationship Type="http://schemas.openxmlformats.org/officeDocument/2006/relationships/notesSlide" Target="/ppt/notesSlides/notesSlide2.xml" Id="Rfebaefa90cee435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f5b8193cb74c1e" /><Relationship Type="http://schemas.openxmlformats.org/officeDocument/2006/relationships/notesSlide" Target="/ppt/notesSlides/notesSlide3.xml" Id="R9bb6fc4aad954c6b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매출</c:v>
          </c:tx>
          <c:spPr>
            <a:solidFill xmlns:a="http://schemas.openxmlformats.org/drawingml/2006/main">
              <a:srgbClr val="2E66B3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7월</c:v>
                </c:pt>
                <c:pt idx="1">
                  <c:v>8월</c:v>
                </c:pt>
                <c:pt idx="2">
                  <c:v>9월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327.2</c:v>
                </c:pt>
                <c:pt idx="1">
                  <c:v>321.05</c:v>
                </c:pt>
                <c:pt idx="2">
                  <c:v>312.8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17365D"/>
                  </a:solidFill>
                  <a:latin typeface="맑은 고딕"/>
                  <a:ea typeface="맑은 고딕"/>
                  <a:cs typeface="맑은 고딕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pPr>
          </a:p>
        </c:txPr>
        <c:crossAx val="48672768"/>
      </c:catAx>
      <c:valAx>
        <c:axId val="48672768"/>
        <c:scaling>
          <c:orientation val="minMax"/>
          <c:max val="4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9F1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pPr>
          </a:p>
        </c:txPr>
        <c:crossAx val="48650112"/>
        <c:crossBetween val="between"/>
        <c:majorUnit val="1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337682CF-1D01-4BF2-8D18-65704EEBD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114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200" b="1">
                <a:solidFill>
                  <a:srgbClr val="17365D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3200" b="1">
                <a:solidFill>
                  <a:srgbClr val="17365D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3200" b="1">
                <a:solidFill>
                  <a:srgbClr val="17365D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3200" b="1">
                <a:solidFill>
                  <a:srgbClr val="17365D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3200" b="1">
                <a:solidFill>
                  <a:srgbClr val="17365D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3200" b="1">
                <a:solidFill>
                  <a:srgbClr val="17365D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3200" b="1">
                <a:solidFill>
                  <a:srgbClr val="17365D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3200" b="1">
                <a:solidFill>
                  <a:srgbClr val="17365D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3200" b="1">
                <a:solidFill>
                  <a:srgbClr val="17365D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3200" b="1">
                <a:solidFill>
                  <a:srgbClr val="17365D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3200" b="1">
                <a:solidFill>
                  <a:srgbClr val="17365D"/>
                </a:solidFill>
                <a:latin typeface="맑은 고딕"/>
                <a:ea typeface="맑은 고딕"/>
                <a:cs typeface="맑은 고딕"/>
              </a:defRPr>
            </a:pPr>
            <a:r>
              <a:rPr sz="3200" b="1">
                <a:solidFill>
                  <a:srgbClr val="17365D"/>
                </a:solidFill>
                <a:latin typeface="맑은 고딕"/>
                <a:ea typeface="맑은 고딕"/>
                <a:cs typeface="맑은 고딕"/>
              </a:rPr>
              <a:t>직매장별·월별 매출 현황</a:t>
            </a:r>
          </a:p>
        </p:txBody>
      </p:sp>
      <p:sp>
        <p:nvSpPr>
          <p:cNvPr id="2" name="scope">
            <a:extLst xmlns:a="http://schemas.openxmlformats.org/drawingml/2006/main">
              <a:ext uri="{FF2B5EF4-FFF2-40B4-BE49-F238E27FC236}">
                <a16:creationId xmlns:a16="http://schemas.microsoft.com/office/drawing/2014/main" id="{99A34DEE-8F14-4AE7-AE1E-1A1E5ACCE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1114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rPr>
              <a:t>2026년 7~9월  /  3개 매장  /  정제본 판매 기록 78건</a:t>
            </a:r>
          </a:p>
        </p:txBody>
      </p:sp>
      <p:sp>
        <p:nvSpPr>
          <p:cNvPr id="3" name="headline">
            <a:extLst xmlns:a="http://schemas.openxmlformats.org/drawingml/2006/main">
              <a:ext uri="{FF2B5EF4-FFF2-40B4-BE49-F238E27FC236}">
                <a16:creationId xmlns:a16="http://schemas.microsoft.com/office/drawing/2014/main" id="{46980867-BB00-40BA-91C9-89DDD07D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200" b="1">
                <a:solidFill>
                  <a:srgbClr val="2E66B3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3200" b="1">
                <a:solidFill>
                  <a:srgbClr val="2E66B3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3200" b="1">
                <a:solidFill>
                  <a:srgbClr val="2E66B3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3200" b="1">
                <a:solidFill>
                  <a:srgbClr val="2E66B3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3200" b="1">
                <a:solidFill>
                  <a:srgbClr val="2E66B3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3200" b="1">
                <a:solidFill>
                  <a:srgbClr val="2E66B3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3200" b="1">
                <a:solidFill>
                  <a:srgbClr val="2E66B3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3200" b="1">
                <a:solidFill>
                  <a:srgbClr val="2E66B3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3200" b="1">
                <a:solidFill>
                  <a:srgbClr val="2E66B3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3200" b="1">
                <a:solidFill>
                  <a:srgbClr val="2E66B3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3200" b="1">
                <a:solidFill>
                  <a:srgbClr val="2E66B3"/>
                </a:solidFill>
                <a:latin typeface="맑은 고딕"/>
                <a:ea typeface="맑은 고딕"/>
                <a:cs typeface="맑은 고딕"/>
              </a:defRPr>
            </a:pPr>
            <a:r>
              <a:rPr sz="3200" b="1">
                <a:solidFill>
                  <a:srgbClr val="2E66B3"/>
                </a:solidFill>
                <a:latin typeface="맑은 고딕"/>
                <a:ea typeface="맑은 고딕"/>
                <a:cs typeface="맑은 고딕"/>
              </a:rPr>
              <a:t>총매출 9,610,500원</a:t>
            </a:r>
          </a:p>
        </p:txBody>
      </p:sp>
      <p:sp>
        <p:nvSpPr>
          <p:cNvPr id="4" name="table-unit">
            <a:extLst xmlns:a="http://schemas.openxmlformats.org/drawingml/2006/main">
              <a:ext uri="{FF2B5EF4-FFF2-40B4-BE49-F238E27FC236}">
                <a16:creationId xmlns:a16="http://schemas.microsoft.com/office/drawing/2014/main" id="{B208BE7E-2616-44CF-87BF-A9B47BB4A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05000"/>
            <a:ext cx="1276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rPr>
              <a:t>단위: 원</a:t>
            </a:r>
          </a:p>
        </p:txBody>
      </p:sp>
      <p:sp>
        <p:nvSpPr>
          <p:cNvPr id="5" name="chart-unit">
            <a:extLst xmlns:a="http://schemas.openxmlformats.org/drawingml/2006/main">
              <a:ext uri="{FF2B5EF4-FFF2-40B4-BE49-F238E27FC236}">
                <a16:creationId xmlns:a16="http://schemas.microsoft.com/office/drawing/2014/main" id="{A312A3A1-52C7-4CB9-9A5C-7D721627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657350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rPr>
              <a:t>월별 매출  (단위: 만원)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50700D-BE1E-4A88-AFFF-9F2A64A473CE}"/>
              </a:ext>
            </a:extLst>
          </p:cNvPr>
          <p:cNvGraphicFramePr/>
          <p:nvPr/>
        </p:nvGraphicFramePr>
        <p:xfrm>
          <a:off xmlns:a="http://schemas.openxmlformats.org/drawingml/2006/main" x="514350" y="2305050"/>
          <a:ext xmlns:a="http://schemas.openxmlformats.org/drawingml/2006/main" cx="695325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57300"/>
                <a:gridCol w="1371600"/>
                <a:gridCol w="1428750"/>
                <a:gridCol w="1428750"/>
                <a:gridCol w="1466850"/>
              </a:tblGrid>
              <a:tr h="457200"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매장</a:t>
                      </a:r>
                    </a:p>
                  </a:txBody>
                  <a:tcPr marL="76200" marR="76200" marT="38100" marB="38100" anchor="ctr">
                    <a:lnL w="9525">
                      <a:solidFill>
                        <a:srgbClr val="DCE4ED"/>
                      </a:solidFill>
                      <a:prstDash val="solid"/>
                    </a:lnL>
                    <a:lnR w="9525">
                      <a:solidFill>
                        <a:srgbClr val="DCE4ED"/>
                      </a:solidFill>
                      <a:prstDash val="solid"/>
                    </a:lnR>
                    <a:lnT w="9525">
                      <a:solidFill>
                        <a:srgbClr val="DCE4ED"/>
                      </a:solidFill>
                      <a:prstDash val="solid"/>
                    </a:lnT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r"/>
                      <a:r>
                        <a:rPr sz="18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7월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T w="9525">
                      <a:solidFill>
                        <a:srgbClr val="DCE4ED"/>
                      </a:solidFill>
                      <a:prstDash val="solid"/>
                    </a:lnT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r"/>
                      <a:r>
                        <a:rPr sz="18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8월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T w="9525">
                      <a:solidFill>
                        <a:srgbClr val="DCE4ED"/>
                      </a:solidFill>
                      <a:prstDash val="solid"/>
                    </a:lnT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r"/>
                      <a:r>
                        <a:rPr sz="18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9월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T w="9525">
                      <a:solidFill>
                        <a:srgbClr val="DCE4ED"/>
                      </a:solidFill>
                      <a:prstDash val="solid"/>
                    </a:lnT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r"/>
                      <a:r>
                        <a:rPr sz="18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합계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T w="9525">
                      <a:solidFill>
                        <a:srgbClr val="DCE4ED"/>
                      </a:solidFill>
                      <a:prstDash val="solid"/>
                    </a:lnT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17365D"/>
                    </a:solidFill>
                  </a:tcPr>
                </a:tc>
              </a:tr>
              <a:tr h="457200"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1호점</a:t>
                      </a:r>
                    </a:p>
                  </a:txBody>
                  <a:tcPr marL="76200" marR="76200" marT="38100" marB="38100" anchor="ctr">
                    <a:lnL w="9525">
                      <a:solidFill>
                        <a:srgbClr val="DCE4ED"/>
                      </a:solidFill>
                      <a:prstDash val="solid"/>
                    </a:lnL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988,000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1,551,500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871,500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3,411,000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배론점</a:t>
                      </a:r>
                    </a:p>
                  </a:txBody>
                  <a:tcPr marL="76200" marR="76200" marT="38100" marB="38100" anchor="ctr">
                    <a:lnL w="9525">
                      <a:solidFill>
                        <a:srgbClr val="DCE4ED"/>
                      </a:solidFill>
                      <a:prstDash val="solid"/>
                    </a:lnL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1,372,000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757,000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1,059,000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3,188,000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  <a:tr h="457200"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이마트매장</a:t>
                      </a:r>
                    </a:p>
                  </a:txBody>
                  <a:tcPr marL="76200" marR="76200" marT="38100" marB="38100" anchor="ctr">
                    <a:lnL w="9525">
                      <a:solidFill>
                        <a:srgbClr val="DCE4ED"/>
                      </a:solidFill>
                      <a:prstDash val="solid"/>
                    </a:lnL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912,000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902,000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1,197,500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3,011,500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7365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합계</a:t>
                      </a:r>
                    </a:p>
                  </a:txBody>
                  <a:tcPr marL="76200" marR="76200" marT="38100" marB="38100" anchor="ctr">
                    <a:lnL w="9525">
                      <a:solidFill>
                        <a:srgbClr val="DCE4ED"/>
                      </a:solidFill>
                      <a:prstDash val="solid"/>
                    </a:lnL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r"/>
                      <a:r>
                        <a:rPr sz="1800" b="1">
                          <a:solidFill>
                            <a:srgbClr val="17365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3,272,000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r"/>
                      <a:r>
                        <a:rPr sz="1800" b="1">
                          <a:solidFill>
                            <a:srgbClr val="17365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3,210,500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r"/>
                      <a:r>
                        <a:rPr sz="1800" b="1">
                          <a:solidFill>
                            <a:srgbClr val="17365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3,128,000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r"/>
                      <a:r>
                        <a:rPr sz="1800" b="1">
                          <a:solidFill>
                            <a:srgbClr val="17365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9,610,500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EAF0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A26178B8-ECEA-4C62-913D-E998AB86446C}"/>
              </a:ext>
            </a:extLst>
          </p:cNvPr>
          <p:cNvGraphicFramePr/>
          <p:nvPr/>
        </p:nvGraphicFramePr>
        <p:xfrm>
          <a:off xmlns:a="http://schemas.openxmlformats.org/drawingml/2006/main" x="7848600" y="2171700"/>
          <a:ext xmlns:a="http://schemas.openxmlformats.org/drawingml/2006/main" cx="3810000" cy="2571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d3bb24293a647e6"/>
          </a:graphicData>
        </a:graphic>
      </p:graphicFrame>
      <p:sp>
        <p:nvSpPr>
          <p:cNvPr id="8" name="monthly-finding">
            <a:extLst xmlns:a="http://schemas.openxmlformats.org/drawingml/2006/main">
              <a:ext uri="{FF2B5EF4-FFF2-40B4-BE49-F238E27FC236}">
                <a16:creationId xmlns:a16="http://schemas.microsoft.com/office/drawing/2014/main" id="{D655B6DF-671C-4129-86C8-DE628BFB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57750"/>
            <a:ext cx="1114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1">
                <a:solidFill>
                  <a:srgbClr val="2E66B3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1800" b="1">
                <a:solidFill>
                  <a:srgbClr val="2E66B3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1800" b="1">
                <a:solidFill>
                  <a:srgbClr val="2E66B3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1800" b="1">
                <a:solidFill>
                  <a:srgbClr val="2E66B3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1800" b="1">
                <a:solidFill>
                  <a:srgbClr val="2E66B3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1800" b="1">
                <a:solidFill>
                  <a:srgbClr val="2E66B3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1800" b="1">
                <a:solidFill>
                  <a:srgbClr val="2E66B3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1800" b="1">
                <a:solidFill>
                  <a:srgbClr val="2E66B3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1800" b="1">
                <a:solidFill>
                  <a:srgbClr val="2E66B3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1800" b="1">
                <a:solidFill>
                  <a:srgbClr val="2E66B3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E66B3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1">
                <a:solidFill>
                  <a:srgbClr val="2E66B3"/>
                </a:solidFill>
                <a:latin typeface="맑은 고딕"/>
                <a:ea typeface="맑은 고딕"/>
                <a:cs typeface="맑은 고딕"/>
              </a:rPr>
              <a:t>전체 매출: 8월 전월 대비 −1.9%, 9월 전월 대비 −2.6%</a:t>
            </a:r>
          </a:p>
        </p:txBody>
      </p:sp>
      <p:sp>
        <p:nvSpPr>
          <p:cNvPr id="9" name="store-finding">
            <a:extLst xmlns:a="http://schemas.openxmlformats.org/drawingml/2006/main">
              <a:ext uri="{FF2B5EF4-FFF2-40B4-BE49-F238E27FC236}">
                <a16:creationId xmlns:a16="http://schemas.microsoft.com/office/drawing/2014/main" id="{C30DC97E-EF70-4D86-9A76-2DA931FD5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67325"/>
            <a:ext cx="1114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rPr>
              <a:t>9월 전월 대비: 1호점 −43.8%, 배론점 +39.9%, 이마트매장 +32.8%</a:t>
            </a:r>
          </a:p>
        </p:txBody>
      </p:sp>
      <p:sp>
        <p:nvSpPr>
          <p:cNvPr id="10" name="scope-note">
            <a:extLst xmlns:a="http://schemas.openxmlformats.org/drawingml/2006/main">
              <a:ext uri="{FF2B5EF4-FFF2-40B4-BE49-F238E27FC236}">
                <a16:creationId xmlns:a16="http://schemas.microsoft.com/office/drawing/2014/main" id="{3B5F9C33-925F-4367-86B6-73821114A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0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rPr>
              <a:t>집계 범위: 제공된 정제본 기록. 전체 매출 포함 여부는 확인 필요</a:t>
            </a:r>
          </a:p>
        </p:txBody>
      </p:sp>
    </p:spTree>
    <p:extLst>
      <p:ext uri="{BB962C8B-B14F-4D97-AF65-F5344CB8AC3E}">
        <p14:creationId xmlns:p14="http://schemas.microsoft.com/office/powerpoint/2010/main" val="9809825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657DA2D9-AD64-4D14-822A-74648601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114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200" b="1">
                <a:solidFill>
                  <a:srgbClr val="17365D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3200" b="1">
                <a:solidFill>
                  <a:srgbClr val="17365D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3200" b="1">
                <a:solidFill>
                  <a:srgbClr val="17365D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3200" b="1">
                <a:solidFill>
                  <a:srgbClr val="17365D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3200" b="1">
                <a:solidFill>
                  <a:srgbClr val="17365D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3200" b="1">
                <a:solidFill>
                  <a:srgbClr val="17365D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3200" b="1">
                <a:solidFill>
                  <a:srgbClr val="17365D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3200" b="1">
                <a:solidFill>
                  <a:srgbClr val="17365D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3200" b="1">
                <a:solidFill>
                  <a:srgbClr val="17365D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3200" b="1">
                <a:solidFill>
                  <a:srgbClr val="17365D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3200" b="1">
                <a:solidFill>
                  <a:srgbClr val="17365D"/>
                </a:solidFill>
                <a:latin typeface="맑은 고딕"/>
                <a:ea typeface="맑은 고딕"/>
                <a:cs typeface="맑은 고딕"/>
              </a:defRPr>
            </a:pPr>
            <a:r>
              <a:rPr sz="3200" b="1">
                <a:solidFill>
                  <a:srgbClr val="17365D"/>
                </a:solidFill>
                <a:latin typeface="맑은 고딕"/>
                <a:ea typeface="맑은 고딕"/>
                <a:cs typeface="맑은 고딕"/>
              </a:rPr>
              <a:t>품목별 매출 변화와 주요 특징</a:t>
            </a:r>
          </a:p>
        </p:txBody>
      </p:sp>
      <p:sp>
        <p:nvSpPr>
          <p:cNvPr id="2" name="unit">
            <a:extLst xmlns:a="http://schemas.openxmlformats.org/drawingml/2006/main">
              <a:ext uri="{FF2B5EF4-FFF2-40B4-BE49-F238E27FC236}">
                <a16:creationId xmlns:a16="http://schemas.microsoft.com/office/drawing/2014/main" id="{7A599E92-9D74-464C-B901-143693B64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1114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rPr>
              <a:t>14개 품목 전체  /  단위: 만원  /  누계 매출 순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DDAA44-0D55-43B8-BFC7-2FF28224C1CE}"/>
              </a:ext>
            </a:extLst>
          </p:cNvPr>
          <p:cNvGraphicFramePr/>
          <p:nvPr/>
        </p:nvGraphicFramePr>
        <p:xfrm>
          <a:off xmlns:a="http://schemas.openxmlformats.org/drawingml/2006/main" x="514350" y="1638300"/>
          <a:ext xmlns:a="http://schemas.openxmlformats.org/drawingml/2006/main" cx="5448300" cy="3200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04900"/>
                <a:gridCol w="1047750"/>
                <a:gridCol w="1047750"/>
                <a:gridCol w="1047750"/>
                <a:gridCol w="1200150"/>
              </a:tblGrid>
              <a:tr h="400050"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품목</a:t>
                      </a:r>
                    </a:p>
                  </a:txBody>
                  <a:tcPr marL="76200" marR="76200" marT="38100" marB="38100" anchor="ctr">
                    <a:lnL w="9525">
                      <a:solidFill>
                        <a:srgbClr val="DCE4ED"/>
                      </a:solidFill>
                      <a:prstDash val="solid"/>
                    </a:lnL>
                    <a:lnR w="9525">
                      <a:solidFill>
                        <a:srgbClr val="DCE4ED"/>
                      </a:solidFill>
                      <a:prstDash val="solid"/>
                    </a:lnR>
                    <a:lnT w="9525">
                      <a:solidFill>
                        <a:srgbClr val="DCE4ED"/>
                      </a:solidFill>
                      <a:prstDash val="solid"/>
                    </a:lnT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r"/>
                      <a:r>
                        <a:rPr sz="18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7월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T w="9525">
                      <a:solidFill>
                        <a:srgbClr val="DCE4ED"/>
                      </a:solidFill>
                      <a:prstDash val="solid"/>
                    </a:lnT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r"/>
                      <a:r>
                        <a:rPr sz="18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8월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T w="9525">
                      <a:solidFill>
                        <a:srgbClr val="DCE4ED"/>
                      </a:solidFill>
                      <a:prstDash val="solid"/>
                    </a:lnT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r"/>
                      <a:r>
                        <a:rPr sz="18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9월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T w="9525">
                      <a:solidFill>
                        <a:srgbClr val="DCE4ED"/>
                      </a:solidFill>
                      <a:prstDash val="solid"/>
                    </a:lnT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r"/>
                      <a:r>
                        <a:rPr sz="18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합계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T w="9525">
                      <a:solidFill>
                        <a:srgbClr val="DCE4ED"/>
                      </a:solidFill>
                      <a:prstDash val="solid"/>
                    </a:lnT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17365D"/>
                    </a:solidFill>
                  </a:tcPr>
                </a:tc>
              </a:tr>
              <a:tr h="400050"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사과</a:t>
                      </a:r>
                    </a:p>
                  </a:txBody>
                  <a:tcPr marL="76200" marR="76200" marT="38100" marB="38100" anchor="ctr">
                    <a:lnL w="9525">
                      <a:solidFill>
                        <a:srgbClr val="DCE4ED"/>
                      </a:solidFill>
                      <a:prstDash val="solid"/>
                    </a:lnL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45.00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63.00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112.50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220.50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복숭아</a:t>
                      </a:r>
                    </a:p>
                  </a:txBody>
                  <a:tcPr marL="76200" marR="76200" marT="38100" marB="38100" anchor="ctr">
                    <a:lnL w="9525">
                      <a:solidFill>
                        <a:srgbClr val="DCE4ED"/>
                      </a:solidFill>
                      <a:prstDash val="solid"/>
                    </a:lnL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104.40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102.60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207.00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  <a:tr h="400050"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포도</a:t>
                      </a:r>
                    </a:p>
                  </a:txBody>
                  <a:tcPr marL="76200" marR="76200" marT="38100" marB="38100" anchor="ctr">
                    <a:lnL w="9525">
                      <a:solidFill>
                        <a:srgbClr val="DCE4ED"/>
                      </a:solidFill>
                      <a:prstDash val="solid"/>
                    </a:lnL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43.20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100.80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144.00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감자</a:t>
                      </a:r>
                    </a:p>
                  </a:txBody>
                  <a:tcPr marL="76200" marR="76200" marT="38100" marB="38100" anchor="ctr">
                    <a:lnL w="9525">
                      <a:solidFill>
                        <a:srgbClr val="DCE4ED"/>
                      </a:solidFill>
                      <a:prstDash val="solid"/>
                    </a:lnL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27.00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8.50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30.00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65.50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  <a:tr h="400050"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유정란</a:t>
                      </a:r>
                    </a:p>
                  </a:txBody>
                  <a:tcPr marL="76200" marR="76200" marT="38100" marB="38100" anchor="ctr">
                    <a:lnL w="9525">
                      <a:solidFill>
                        <a:srgbClr val="DCE4ED"/>
                      </a:solidFill>
                      <a:prstDash val="solid"/>
                    </a:lnL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18.00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18.90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27.00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63.90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상추</a:t>
                      </a:r>
                    </a:p>
                  </a:txBody>
                  <a:tcPr marL="76200" marR="76200" marT="38100" marB="38100" anchor="ctr">
                    <a:lnL w="9525">
                      <a:solidFill>
                        <a:srgbClr val="DCE4ED"/>
                      </a:solidFill>
                      <a:prstDash val="solid"/>
                    </a:lnL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21.00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21.75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13.00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55.75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  <a:tr h="400050"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토마토</a:t>
                      </a:r>
                    </a:p>
                  </a:txBody>
                  <a:tcPr marL="76200" marR="76200" marT="38100" marB="38100" anchor="ctr">
                    <a:lnL w="9525">
                      <a:solidFill>
                        <a:srgbClr val="DCE4ED"/>
                      </a:solidFill>
                      <a:prstDash val="solid"/>
                    </a:lnL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34.80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19.80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54.60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D57117-C5DA-41CD-904E-51F2ECD44E86}"/>
              </a:ext>
            </a:extLst>
          </p:cNvPr>
          <p:cNvGraphicFramePr/>
          <p:nvPr/>
        </p:nvGraphicFramePr>
        <p:xfrm>
          <a:off xmlns:a="http://schemas.openxmlformats.org/drawingml/2006/main" x="6210300" y="1638300"/>
          <a:ext xmlns:a="http://schemas.openxmlformats.org/drawingml/2006/main" cx="5448300" cy="3200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04900"/>
                <a:gridCol w="1047750"/>
                <a:gridCol w="1047750"/>
                <a:gridCol w="1047750"/>
                <a:gridCol w="1200150"/>
              </a:tblGrid>
              <a:tr h="400050"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품목</a:t>
                      </a:r>
                    </a:p>
                  </a:txBody>
                  <a:tcPr marL="76200" marR="76200" marT="38100" marB="38100" anchor="ctr">
                    <a:lnL w="9525">
                      <a:solidFill>
                        <a:srgbClr val="DCE4ED"/>
                      </a:solidFill>
                      <a:prstDash val="solid"/>
                    </a:lnL>
                    <a:lnR w="9525">
                      <a:solidFill>
                        <a:srgbClr val="DCE4ED"/>
                      </a:solidFill>
                      <a:prstDash val="solid"/>
                    </a:lnR>
                    <a:lnT w="9525">
                      <a:solidFill>
                        <a:srgbClr val="DCE4ED"/>
                      </a:solidFill>
                      <a:prstDash val="solid"/>
                    </a:lnT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r"/>
                      <a:r>
                        <a:rPr sz="18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7월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T w="9525">
                      <a:solidFill>
                        <a:srgbClr val="DCE4ED"/>
                      </a:solidFill>
                      <a:prstDash val="solid"/>
                    </a:lnT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r"/>
                      <a:r>
                        <a:rPr sz="18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8월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T w="9525">
                      <a:solidFill>
                        <a:srgbClr val="DCE4ED"/>
                      </a:solidFill>
                      <a:prstDash val="solid"/>
                    </a:lnT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r"/>
                      <a:r>
                        <a:rPr sz="18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9월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T w="9525">
                      <a:solidFill>
                        <a:srgbClr val="DCE4ED"/>
                      </a:solidFill>
                      <a:prstDash val="solid"/>
                    </a:lnT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r"/>
                      <a:r>
                        <a:rPr sz="18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합계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T w="9525">
                      <a:solidFill>
                        <a:srgbClr val="DCE4ED"/>
                      </a:solidFill>
                      <a:prstDash val="solid"/>
                    </a:lnT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17365D"/>
                    </a:solidFill>
                  </a:tcPr>
                </a:tc>
              </a:tr>
              <a:tr h="400050"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대파</a:t>
                      </a:r>
                    </a:p>
                  </a:txBody>
                  <a:tcPr marL="76200" marR="76200" marT="38100" marB="38100" anchor="ctr">
                    <a:lnL w="9525">
                      <a:solidFill>
                        <a:srgbClr val="DCE4ED"/>
                      </a:solidFill>
                      <a:prstDash val="solid"/>
                    </a:lnL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20.10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4.50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6.00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30.60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애호박</a:t>
                      </a:r>
                    </a:p>
                  </a:txBody>
                  <a:tcPr marL="76200" marR="76200" marT="38100" marB="38100" anchor="ctr">
                    <a:lnL w="9525">
                      <a:solidFill>
                        <a:srgbClr val="DCE4ED"/>
                      </a:solidFill>
                      <a:prstDash val="solid"/>
                    </a:lnL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12.60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12.60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25.20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  <a:tr h="400050"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꿀</a:t>
                      </a:r>
                    </a:p>
                  </a:txBody>
                  <a:tcPr marL="76200" marR="76200" marT="38100" marB="38100" anchor="ctr">
                    <a:lnL w="9525">
                      <a:solidFill>
                        <a:srgbClr val="DCE4ED"/>
                      </a:solidFill>
                      <a:prstDash val="solid"/>
                    </a:lnL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17.50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7.50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25.00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된장</a:t>
                      </a:r>
                    </a:p>
                  </a:txBody>
                  <a:tcPr marL="76200" marR="76200" marT="38100" marB="38100" anchor="ctr">
                    <a:lnL w="9525">
                      <a:solidFill>
                        <a:srgbClr val="DCE4ED"/>
                      </a:solidFill>
                      <a:prstDash val="solid"/>
                    </a:lnL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7.20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6.00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8.40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21.60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  <a:tr h="400050"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깻잎</a:t>
                      </a:r>
                    </a:p>
                  </a:txBody>
                  <a:tcPr marL="76200" marR="76200" marT="38100" marB="38100" anchor="ctr">
                    <a:lnL w="9525">
                      <a:solidFill>
                        <a:srgbClr val="DCE4ED"/>
                      </a:solidFill>
                      <a:prstDash val="solid"/>
                    </a:lnL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5.80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5.80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7.60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19.20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쌀</a:t>
                      </a:r>
                    </a:p>
                  </a:txBody>
                  <a:tcPr marL="76200" marR="76200" marT="38100" marB="38100" anchor="ctr">
                    <a:lnL w="9525">
                      <a:solidFill>
                        <a:srgbClr val="DCE4ED"/>
                      </a:solidFill>
                      <a:prstDash val="solid"/>
                    </a:lnL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14.40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14.40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  <a:tr h="400050"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오이</a:t>
                      </a:r>
                    </a:p>
                  </a:txBody>
                  <a:tcPr marL="76200" marR="76200" marT="38100" marB="38100" anchor="ctr">
                    <a:lnL w="9525">
                      <a:solidFill>
                        <a:srgbClr val="DCE4ED"/>
                      </a:solidFill>
                      <a:prstDash val="solid"/>
                    </a:lnL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13.80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13.80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re">
            <a:extLst xmlns:a="http://schemas.openxmlformats.org/drawingml/2006/main">
              <a:ext uri="{FF2B5EF4-FFF2-40B4-BE49-F238E27FC236}">
                <a16:creationId xmlns:a16="http://schemas.microsoft.com/office/drawing/2014/main" id="{FBE1B60C-A7FA-49DD-9DA8-DFD4EE87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1114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1">
                <a:solidFill>
                  <a:srgbClr val="2E66B3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1800" b="1">
                <a:solidFill>
                  <a:srgbClr val="2E66B3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1800" b="1">
                <a:solidFill>
                  <a:srgbClr val="2E66B3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1800" b="1">
                <a:solidFill>
                  <a:srgbClr val="2E66B3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1800" b="1">
                <a:solidFill>
                  <a:srgbClr val="2E66B3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1800" b="1">
                <a:solidFill>
                  <a:srgbClr val="2E66B3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1800" b="1">
                <a:solidFill>
                  <a:srgbClr val="2E66B3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1800" b="1">
                <a:solidFill>
                  <a:srgbClr val="2E66B3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1800" b="1">
                <a:solidFill>
                  <a:srgbClr val="2E66B3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1800" b="1">
                <a:solidFill>
                  <a:srgbClr val="2E66B3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E66B3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1">
                <a:solidFill>
                  <a:srgbClr val="2E66B3"/>
                </a:solidFill>
                <a:latin typeface="맑은 고딕"/>
                <a:ea typeface="맑은 고딕"/>
                <a:cs typeface="맑은 고딕"/>
              </a:rPr>
              <a:t>사과·복숭아·포도 합계 5,715,000원, 전체의 59.5%</a:t>
            </a:r>
          </a:p>
        </p:txBody>
      </p:sp>
      <p:sp>
        <p:nvSpPr>
          <p:cNvPr id="6" name="decline">
            <a:extLst xmlns:a="http://schemas.openxmlformats.org/drawingml/2006/main">
              <a:ext uri="{FF2B5EF4-FFF2-40B4-BE49-F238E27FC236}">
                <a16:creationId xmlns:a16="http://schemas.microsoft.com/office/drawing/2014/main" id="{A02BF466-307E-4C10-B3E9-42BE58376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67350"/>
            <a:ext cx="1114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rPr>
              <a:t>상추: 8월 217,500원, 9월 130,000원 (전월 대비 −40.2%)</a:t>
            </a:r>
          </a:p>
        </p:txBody>
      </p:sp>
      <p:sp>
        <p:nvSpPr>
          <p:cNvPr id="7" name="no-record">
            <a:extLst xmlns:a="http://schemas.openxmlformats.org/drawingml/2006/main">
              <a:ext uri="{FF2B5EF4-FFF2-40B4-BE49-F238E27FC236}">
                <a16:creationId xmlns:a16="http://schemas.microsoft.com/office/drawing/2014/main" id="{B52C0975-A02B-4221-A3B7-23F97FB1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0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rPr>
              <a:t>—: 해당 월 판매 기록 없음. 실제 판매 여부는 확인 필요</a:t>
            </a:r>
          </a:p>
        </p:txBody>
      </p:sp>
    </p:spTree>
    <p:extLst>
      <p:ext uri="{BB962C8B-B14F-4D97-AF65-F5344CB8AC3E}">
        <p14:creationId xmlns:p14="http://schemas.microsoft.com/office/powerpoint/2010/main" val="2989076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86997BC2-CAC3-4B4A-A111-C73EA5A1F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114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200" b="1">
                <a:solidFill>
                  <a:srgbClr val="17365D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3200" b="1">
                <a:solidFill>
                  <a:srgbClr val="17365D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3200" b="1">
                <a:solidFill>
                  <a:srgbClr val="17365D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3200" b="1">
                <a:solidFill>
                  <a:srgbClr val="17365D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3200" b="1">
                <a:solidFill>
                  <a:srgbClr val="17365D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3200" b="1">
                <a:solidFill>
                  <a:srgbClr val="17365D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3200" b="1">
                <a:solidFill>
                  <a:srgbClr val="17365D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3200" b="1">
                <a:solidFill>
                  <a:srgbClr val="17365D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3200" b="1">
                <a:solidFill>
                  <a:srgbClr val="17365D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3200" b="1">
                <a:solidFill>
                  <a:srgbClr val="17365D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3200" b="1">
                <a:solidFill>
                  <a:srgbClr val="17365D"/>
                </a:solidFill>
                <a:latin typeface="맑은 고딕"/>
                <a:ea typeface="맑은 고딕"/>
                <a:cs typeface="맑은 고딕"/>
              </a:defRPr>
            </a:pPr>
            <a:r>
              <a:rPr sz="3200" b="1">
                <a:solidFill>
                  <a:srgbClr val="17365D"/>
                </a:solidFill>
                <a:latin typeface="맑은 고딕"/>
                <a:ea typeface="맑은 고딕"/>
                <a:cs typeface="맑은 고딕"/>
              </a:rPr>
              <a:t>매출 변화에 따른 우선 실행과제</a:t>
            </a:r>
          </a:p>
        </p:txBody>
      </p:sp>
      <p:sp>
        <p:nvSpPr>
          <p:cNvPr id="2" name="evidence">
            <a:extLst xmlns:a="http://schemas.openxmlformats.org/drawingml/2006/main">
              <a:ext uri="{FF2B5EF4-FFF2-40B4-BE49-F238E27FC236}">
                <a16:creationId xmlns:a16="http://schemas.microsoft.com/office/drawing/2014/main" id="{BD4A8851-3801-4BE0-B230-A269711B8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90625"/>
            <a:ext cx="1114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1">
                <a:solidFill>
                  <a:srgbClr val="2E66B3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1800" b="1">
                <a:solidFill>
                  <a:srgbClr val="2E66B3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1800" b="1">
                <a:solidFill>
                  <a:srgbClr val="2E66B3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1800" b="1">
                <a:solidFill>
                  <a:srgbClr val="2E66B3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1800" b="1">
                <a:solidFill>
                  <a:srgbClr val="2E66B3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1800" b="1">
                <a:solidFill>
                  <a:srgbClr val="2E66B3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1800" b="1">
                <a:solidFill>
                  <a:srgbClr val="2E66B3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1800" b="1">
                <a:solidFill>
                  <a:srgbClr val="2E66B3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1800" b="1">
                <a:solidFill>
                  <a:srgbClr val="2E66B3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1800" b="1">
                <a:solidFill>
                  <a:srgbClr val="2E66B3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E66B3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1">
                <a:solidFill>
                  <a:srgbClr val="2E66B3"/>
                </a:solidFill>
                <a:latin typeface="맑은 고딕"/>
                <a:ea typeface="맑은 고딕"/>
                <a:cs typeface="맑은 고딕"/>
              </a:rPr>
              <a:t>1호점 9월 매출은 전월보다 680,000원 감소</a:t>
            </a:r>
          </a:p>
        </p:txBody>
      </p:sp>
      <p:sp>
        <p:nvSpPr>
          <p:cNvPr id="3" name="hypothesis">
            <a:extLst xmlns:a="http://schemas.openxmlformats.org/drawingml/2006/main">
              <a:ext uri="{FF2B5EF4-FFF2-40B4-BE49-F238E27FC236}">
                <a16:creationId xmlns:a16="http://schemas.microsoft.com/office/drawing/2014/main" id="{7CF9DABD-F970-4448-91B0-148D10F3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1114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rPr>
              <a:t>[추정] 출하 품목 전환이 매출 변화에 영향을 주었을 가능성</a:t>
            </a:r>
          </a:p>
        </p:txBody>
      </p:sp>
      <p:sp>
        <p:nvSpPr>
          <p:cNvPr id="4" name="needed">
            <a:extLst xmlns:a="http://schemas.openxmlformats.org/drawingml/2006/main">
              <a:ext uri="{FF2B5EF4-FFF2-40B4-BE49-F238E27FC236}">
                <a16:creationId xmlns:a16="http://schemas.microsoft.com/office/drawing/2014/main" id="{E9D96B8F-FA7C-471B-92C2-D3C5D825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33600"/>
            <a:ext cx="1114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rPr>
              <a:t>원인 확인 자료: 품목별 출하·재고, 방문객 수, 행사 기록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A908DC-AD00-4569-9603-EEA7C7EEADD7}"/>
              </a:ext>
            </a:extLst>
          </p:cNvPr>
          <p:cNvGraphicFramePr/>
          <p:nvPr/>
        </p:nvGraphicFramePr>
        <p:xfrm>
          <a:off xmlns:a="http://schemas.openxmlformats.org/drawingml/2006/main" x="514350" y="2819400"/>
          <a:ext xmlns:a="http://schemas.openxmlformats.org/drawingml/2006/main" cx="11163300" cy="2628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95450"/>
                <a:gridCol w="6019800"/>
                <a:gridCol w="1695450"/>
                <a:gridCol w="1752600"/>
              </a:tblGrid>
              <a:tr h="657225"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담당자</a:t>
                      </a:r>
                    </a:p>
                  </a:txBody>
                  <a:tcPr marL="76200" marR="76200" marT="38100" marB="38100" anchor="ctr">
                    <a:lnL w="9525">
                      <a:solidFill>
                        <a:srgbClr val="DCE4ED"/>
                      </a:solidFill>
                      <a:prstDash val="solid"/>
                    </a:lnL>
                    <a:lnR w="9525">
                      <a:solidFill>
                        <a:srgbClr val="DCE4ED"/>
                      </a:solidFill>
                      <a:prstDash val="solid"/>
                    </a:lnR>
                    <a:lnT w="9525">
                      <a:solidFill>
                        <a:srgbClr val="DCE4ED"/>
                      </a:solidFill>
                      <a:prstDash val="solid"/>
                    </a:lnT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할 일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T w="9525">
                      <a:solidFill>
                        <a:srgbClr val="DCE4ED"/>
                      </a:solidFill>
                      <a:prstDash val="solid"/>
                    </a:lnT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기한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T w="9525">
                      <a:solidFill>
                        <a:srgbClr val="DCE4ED"/>
                      </a:solidFill>
                      <a:prstDash val="solid"/>
                    </a:lnT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진행 상태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T w="9525">
                      <a:solidFill>
                        <a:srgbClr val="DCE4ED"/>
                      </a:solidFill>
                      <a:prstDash val="solid"/>
                    </a:lnT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17365D"/>
                    </a:solidFill>
                  </a:tcPr>
                </a:tc>
              </a:tr>
              <a:tr h="657225"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확인 필요</a:t>
                      </a:r>
                    </a:p>
                  </a:txBody>
                  <a:tcPr marL="76200" marR="76200" marT="38100" marB="38100" anchor="ctr">
                    <a:lnL w="9525">
                      <a:solidFill>
                        <a:srgbClr val="DCE4ED"/>
                      </a:solidFill>
                      <a:prstDash val="solid"/>
                    </a:lnL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1호점 품목별 출하·재고·방문객 점검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확인 필요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확인 필요</a:t>
                      </a:r>
                    </a:p>
                  </a:txBody>
                  <a:tcPr marL="76200" marR="76200" marT="38100" marB="38100" anchor="ctr">
                    <a:lnL w="9525">
                      <a:solidFill>
                        <a:srgbClr val="DCE4ED"/>
                      </a:solidFill>
                      <a:prstDash val="solid"/>
                    </a:lnL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사과·포도 진열·출하 확대 타당성 검토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확인 필요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  <a:tr h="657225"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확인 필요</a:t>
                      </a:r>
                    </a:p>
                  </a:txBody>
                  <a:tcPr marL="76200" marR="76200" marT="38100" marB="38100" anchor="ctr">
                    <a:lnL w="9525">
                      <a:solidFill>
                        <a:srgbClr val="DCE4ED"/>
                      </a:solidFill>
                      <a:prstDash val="solid"/>
                    </a:lnL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판매 기록 없는 품목 및 농가명 확인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확인 필요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38100" rIns="76200" bIns="381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433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</a:t>
                      </a:r>
                    </a:p>
                  </a:txBody>
                  <a:tcPr marL="76200" marR="76200" marT="38100" marB="38100" anchor="ctr">
                    <a:lnR w="9525">
                      <a:solidFill>
                        <a:srgbClr val="DCE4ED"/>
                      </a:solidFill>
                      <a:prstDash val="solid"/>
                    </a:lnR>
                    <a:lnB w="9525">
                      <a:solidFill>
                        <a:srgbClr val="DC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decision">
            <a:extLst xmlns:a="http://schemas.openxmlformats.org/drawingml/2006/main">
              <a:ext uri="{FF2B5EF4-FFF2-40B4-BE49-F238E27FC236}">
                <a16:creationId xmlns:a16="http://schemas.microsoft.com/office/drawing/2014/main" id="{0C796034-899A-4309-91E4-77EA67989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0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1">
                <a:solidFill>
                  <a:srgbClr val="2E66B3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1800" b="1">
                <a:solidFill>
                  <a:srgbClr val="2E66B3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1800" b="1">
                <a:solidFill>
                  <a:srgbClr val="2E66B3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1800" b="1">
                <a:solidFill>
                  <a:srgbClr val="2E66B3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1800" b="1">
                <a:solidFill>
                  <a:srgbClr val="2E66B3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1800" b="1">
                <a:solidFill>
                  <a:srgbClr val="2E66B3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1800" b="1">
                <a:solidFill>
                  <a:srgbClr val="2E66B3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1800" b="1">
                <a:solidFill>
                  <a:srgbClr val="2E66B3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1800" b="1">
                <a:solidFill>
                  <a:srgbClr val="2E66B3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1800" b="1">
                <a:solidFill>
                  <a:srgbClr val="2E66B3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E66B3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1">
                <a:solidFill>
                  <a:srgbClr val="2E66B3"/>
                </a:solidFill>
                <a:latin typeface="맑은 고딕"/>
                <a:ea typeface="맑은 고딕"/>
                <a:cs typeface="맑은 고딕"/>
              </a:rPr>
              <a:t>이사회 검토사항: 실행 여부 및 담당자·기한 확정</a:t>
            </a:r>
          </a:p>
        </p:txBody>
      </p:sp>
      <p:sp>
        <p:nvSpPr>
          <p:cNvPr id="7" name="limit">
            <a:extLst xmlns:a="http://schemas.openxmlformats.org/drawingml/2006/main">
              <a:ext uri="{FF2B5EF4-FFF2-40B4-BE49-F238E27FC236}">
                <a16:creationId xmlns:a16="http://schemas.microsoft.com/office/drawing/2014/main" id="{94915486-6035-43FC-ADFF-642BCC7A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53150"/>
            <a:ext cx="1114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0">
                <a:solidFill>
                  <a:srgbClr val="243345"/>
                </a:solidFill>
                <a:latin typeface="맑은 고딕"/>
                <a:ea typeface="맑은 고딕"/>
                <a:cs typeface="맑은 고딕"/>
              </a:rPr>
              <a:t>효과·예산은 미산정. 실행 전 출하 여력·비용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5543467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2026-10-27T17:05:38.7690000Z</dcterms:created>
  <dcterms:modified xsi:type="dcterms:W3CDTF">2026-10-27T17:05:38.7690000Z</dcterms:modified>
</coreProperties>
</file>